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C1389E2-B526-4428-8C8B-E47C7A845AF1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6F91DC-285C-48FB-99AE-2F249BA097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982AFC-037F-4E33-A598-B59264E765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4A6748-B921-4673-8A38-335B220FCB2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2933D8-85FB-4434-AF78-F98408DC24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68A264-2419-47AE-A4BF-791589A5E5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565B3C-A715-4FD2-9555-30AF4D6E852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CE85F4-061B-4F5B-8C32-C9DD1C1C00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9437A5-2998-4B81-8B3A-933F84DC192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7C13CB-DDE0-4511-A59E-23796D3AAC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0B4167-A8D8-454D-8E0D-D4909357DDE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E70F74-1EF7-4142-824F-DC61960271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411120" cy="514332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0"/>
            <a:ext cx="2559960" cy="100548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85800" y="960120"/>
            <a:ext cx="7772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Clon de Agapea.com</a:t>
            </a:r>
            <a:endParaRPr b="0" lang="es-E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85800" y="228600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Librería Online · Lenguaje de Marcas — ASIX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85800" y="3017520"/>
            <a:ext cx="1462680" cy="383760"/>
          </a:xfrm>
          <a:prstGeom prst="roundRect">
            <a:avLst>
              <a:gd name="adj" fmla="val 14286"/>
            </a:avLst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85800" y="301752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HTML5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286000" y="3017520"/>
            <a:ext cx="1462680" cy="383760"/>
          </a:xfrm>
          <a:prstGeom prst="roundRect">
            <a:avLst>
              <a:gd name="adj" fmla="val 14286"/>
            </a:avLst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286000" y="301752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CSS3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886200" y="3017520"/>
            <a:ext cx="1462680" cy="383760"/>
          </a:xfrm>
          <a:prstGeom prst="roundRect">
            <a:avLst>
              <a:gd name="adj" fmla="val 14286"/>
            </a:avLst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886200" y="301752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JavaScript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486400" y="3017520"/>
            <a:ext cx="1462680" cy="383760"/>
          </a:xfrm>
          <a:prstGeom prst="roundRect">
            <a:avLst>
              <a:gd name="adj" fmla="val 14286"/>
            </a:avLst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486400" y="301752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086600" y="3017520"/>
            <a:ext cx="1462680" cy="383760"/>
          </a:xfrm>
          <a:prstGeom prst="roundRect">
            <a:avLst>
              <a:gd name="adj" fmla="val 14286"/>
            </a:avLst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086600" y="301752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localStorage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85800" y="4389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a7fa8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837840" y="3981600"/>
            <a:ext cx="1802160" cy="6984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s-E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Richard Clive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  <a:p>
            <a:r>
              <a:rPr b="0" lang="es-E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Eneko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  <a:p>
            <a:r>
              <a:rPr b="0" lang="es-E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Tomás Pitaluga Díaz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00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¿Qué es Agapea?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365760" y="1325880"/>
            <a:ext cx="411444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365760" y="1325880"/>
            <a:ext cx="4114440" cy="1094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48640" y="14630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El referente original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548640" y="2011680"/>
            <a:ext cx="37486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Agapea.com es una de las librerías online más grandes de España, con más de 8 millones de títulos disponibles y envío en 24/48 horas.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4846320" y="1325880"/>
            <a:ext cx="411444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4846320" y="1325880"/>
            <a:ext cx="4114440" cy="10944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5029200" y="14630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Nuestro objetivo</a:t>
            </a:r>
            <a:endParaRPr b="0" lang="es-E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5029200" y="2011680"/>
            <a:ext cx="37486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Recrear su interfaz pública: catálogo con filtros, ficha de libro, carrito de compra y registro de usuario — sin backend, solo con tecnologías web del lado del cliente.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Las 4 páginas del proyecto</a:t>
            </a:r>
            <a:endParaRPr b="0" lang="es-E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274320" y="1234440"/>
            <a:ext cx="1965600" cy="347436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274320" y="1234440"/>
            <a:ext cx="1965600" cy="5025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274320" y="123444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Catálogo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365760" y="182880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onsolas"/>
                <a:ea typeface="Consolas"/>
              </a:rPr>
              <a:t>index.html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365760" y="2286000"/>
            <a:ext cx="178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Grid de libros con filtros, búsqueda por texto, categoría y orden. Paginación de 8 libros por página.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2441520" y="1234440"/>
            <a:ext cx="1965600" cy="347436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2441520" y="1234440"/>
            <a:ext cx="1965600" cy="502560"/>
          </a:xfrm>
          <a:prstGeom prst="rect">
            <a:avLst/>
          </a:prstGeom>
          <a:solidFill>
            <a:srgbClr val="1a7f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2441520" y="123444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Ficha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2532960" y="182880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onsolas"/>
                <a:ea typeface="Consolas"/>
              </a:rPr>
              <a:t>book.html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2532960" y="2286000"/>
            <a:ext cx="178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Portada, precio, descuento, stock, descripción, tabla de detalles y libros relacionados.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4608720" y="1234440"/>
            <a:ext cx="1965600" cy="347436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4608720" y="1234440"/>
            <a:ext cx="1965600" cy="50256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4608720" y="123444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Carrito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700160" y="182880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onsolas"/>
                <a:ea typeface="Consolas"/>
              </a:rPr>
              <a:t>cart.html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4700160" y="2286000"/>
            <a:ext cx="178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Lista de artículos, cantidades editables, cálculo de envío, cupones de descuento y confirmación.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6775560" y="1234440"/>
            <a:ext cx="1965600" cy="347436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6775560" y="1234440"/>
            <a:ext cx="1965600" cy="5025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775560" y="123444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Login / Reg.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6867000" y="182880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onsolas"/>
                <a:ea typeface="Consolas"/>
              </a:rPr>
              <a:t>login.html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867000" y="2286000"/>
            <a:ext cx="17827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Pestaña de acceso (sin backend) y registro con validación completa de todos los campos.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00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Arquitectura JavaScript — ES Modules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365760" y="1234440"/>
            <a:ext cx="8412120" cy="594000"/>
          </a:xfrm>
          <a:prstGeom prst="rect">
            <a:avLst/>
          </a:prstGeom>
          <a:solidFill>
            <a:srgbClr val="f85c6b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365760" y="1234440"/>
            <a:ext cx="164160" cy="59400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685800" y="1234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2c2c"/>
                </a:solidFill>
                <a:effectLst/>
                <a:uFillTx/>
                <a:latin typeface="Consolas"/>
                <a:ea typeface="Consolas"/>
              </a:rPr>
              <a:t>app.js  (punto de entrada)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685800" y="153612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Detecta la página activa  ·  Carga el módulo correcto  ·  Actualiza la cabecera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365760" y="2194560"/>
            <a:ext cx="8412120" cy="594000"/>
          </a:xfrm>
          <a:prstGeom prst="rect">
            <a:avLst/>
          </a:prstGeom>
          <a:solidFill>
            <a:srgbClr val="00679f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365760" y="2194560"/>
            <a:ext cx="164160" cy="59400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685800" y="21945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2c2c"/>
                </a:solidFill>
                <a:effectLst/>
                <a:uFillTx/>
                <a:latin typeface="Consolas"/>
                <a:ea typeface="Consolas"/>
              </a:rPr>
              <a:t>pages/  (lógica de cada página)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685800" y="249624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index.js · book.js · cart.js · login.js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365760" y="2926080"/>
            <a:ext cx="8412120" cy="594000"/>
          </a:xfrm>
          <a:prstGeom prst="rect">
            <a:avLst/>
          </a:prstGeom>
          <a:solidFill>
            <a:srgbClr val="1a7fc1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365760" y="2926080"/>
            <a:ext cx="164160" cy="594000"/>
          </a:xfrm>
          <a:prstGeom prst="rect">
            <a:avLst/>
          </a:prstGeom>
          <a:solidFill>
            <a:srgbClr val="1a7f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685800" y="29260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2c2c"/>
                </a:solidFill>
                <a:effectLst/>
                <a:uFillTx/>
                <a:latin typeface="Consolas"/>
                <a:ea typeface="Consolas"/>
              </a:rPr>
              <a:t>modulos/  (estado persistente)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685800" y="322776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carrito.js · favoritos.js · usuario.js  →  localStorage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365760" y="3657600"/>
            <a:ext cx="8412120" cy="594000"/>
          </a:xfrm>
          <a:prstGeom prst="rect">
            <a:avLst/>
          </a:prstGeom>
          <a:solidFill>
            <a:srgbClr val="27ae60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365760" y="3657600"/>
            <a:ext cx="164160" cy="5940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685800" y="36576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2c2c"/>
                </a:solidFill>
                <a:effectLst/>
                <a:uFillTx/>
                <a:latin typeface="Consolas"/>
                <a:ea typeface="Consolas"/>
              </a:rPr>
              <a:t>services/ + utils/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685800" y="395928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libros.js  (fetch JSON)  ·  helpers.js  (formatearPrecio)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Petición asíncrona al JSON</a:t>
            </a:r>
            <a:endParaRPr b="0" lang="es-E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365760" y="1097280"/>
            <a:ext cx="4845960" cy="292572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02920" y="1234440"/>
            <a:ext cx="457164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trike="noStrike" u="none">
                <a:solidFill>
                  <a:srgbClr val="6b7fcc"/>
                </a:solidFill>
                <a:effectLst/>
                <a:uFillTx/>
                <a:latin typeface="Consolas"/>
                <a:ea typeface="Consolas"/>
              </a:rPr>
              <a:t>// services/libros.js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cdcaa"/>
                </a:solidFill>
                <a:effectLst/>
                <a:uFillTx/>
                <a:latin typeface="Consolas"/>
                <a:ea typeface="Consolas"/>
              </a:rPr>
              <a:t>export async function </a:t>
            </a:r>
            <a:r>
              <a:rPr b="0" lang="en-US" sz="1100" strike="noStrike" u="none">
                <a:solidFill>
                  <a:srgbClr val="4ec9b0"/>
                </a:solidFill>
                <a:effectLst/>
                <a:uFillTx/>
                <a:latin typeface="Consolas"/>
                <a:ea typeface="Consolas"/>
              </a:rPr>
              <a:t>cargarLibros</a:t>
            </a: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() {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  const 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respuesta</a:t>
            </a: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 = await </a:t>
            </a:r>
            <a:r>
              <a:rPr b="0" lang="en-US" sz="1100" strike="noStrike" u="none">
                <a:solidFill>
                  <a:srgbClr val="dcdcaa"/>
                </a:solidFill>
                <a:effectLst/>
                <a:uFillTx/>
                <a:latin typeface="Consolas"/>
                <a:ea typeface="Consolas"/>
              </a:rPr>
              <a:t>fetch</a:t>
            </a: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('data/libros.json');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  if (!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respuesta</a:t>
            </a: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.ok)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    throw new 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ec9b0"/>
                </a:solidFill>
                <a:effectLst/>
                <a:uFillTx/>
                <a:latin typeface="Consolas"/>
                <a:ea typeface="Consolas"/>
              </a:rPr>
              <a:t>Error</a:t>
            </a: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('No se pudo cargar');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  return await 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respuesta</a:t>
            </a: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.json();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8c8c8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5577840" y="1097280"/>
            <a:ext cx="3291480" cy="82260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5577840" y="1097280"/>
            <a:ext cx="109440" cy="82260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5806440" y="109728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fetch devuelve una Promesa. Con async/await esperamos la respuesta sin bloquear la página.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5577840" y="2103120"/>
            <a:ext cx="3291480" cy="82260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5577840" y="2103120"/>
            <a:ext cx="109440" cy="82260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5806440" y="210312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Comprobamos response.ok para detectar errores HTTP (404, 500…).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5577840" y="3108960"/>
            <a:ext cx="3291480" cy="82260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5577840" y="3108960"/>
            <a:ext cx="109440" cy="82260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5806440" y="310896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El JSON contiene 12 libros con propiedades en castellano: titulo, precio, stock, portada…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00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Filtros y paginación del catálogo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320040" y="1234440"/>
            <a:ext cx="265140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320040" y="1234440"/>
            <a:ext cx="2651400" cy="9108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457200" y="13716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Búsqueda por texto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457200" y="1920240"/>
            <a:ext cx="2377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Evento input en el campo de texto. Filtra por título, autor, ISBN o etiquetas mientras el usuario escribe.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3200400" y="1234440"/>
            <a:ext cx="265140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3200400" y="1234440"/>
            <a:ext cx="2651400" cy="9108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3337560" y="13716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Filtro por categoría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3337560" y="1920240"/>
            <a:ext cx="2377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Select con las categorías del JSON. También funciona desde los enlaces del sidebar lateral.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6080760" y="1234440"/>
            <a:ext cx="265140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6080760" y="1234440"/>
            <a:ext cx="2651400" cy="910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6217920" y="13716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Ordenación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6217920" y="1920240"/>
            <a:ext cx="2377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Select con opciones: relevancia, precio ascendente/descendente, más recientes y título A-Z.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320040" y="3474720"/>
            <a:ext cx="850356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320040" y="3474720"/>
            <a:ext cx="109440" cy="127980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594360" y="35478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Paginación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594360" y="39319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Se muestran 8 libros por página. La función irAPagina() calcula el inicio y fin del slice() del array filtrado. Los botones Anterior / Siguiente y los numerados se generan dinámicamente con innerHTML.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localStorage — persistencia de datos</a:t>
            </a:r>
            <a:endParaRPr b="0" lang="es-E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365760" y="1097280"/>
            <a:ext cx="8412120" cy="80424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365760" y="1097280"/>
            <a:ext cx="136800" cy="80424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640080" y="11340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agapea_carrito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640080" y="149976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alibri"/>
                <a:ea typeface="Calibri"/>
              </a:rPr>
              <a:t>→ carrito.js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3566160" y="120708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Array de artículos: id, título, autor, precio, portada, stock, cantidad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365760" y="2057400"/>
            <a:ext cx="8412120" cy="80424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365760" y="2057400"/>
            <a:ext cx="136800" cy="8042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640080" y="20941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agapea_favoritos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640080" y="245988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alibri"/>
                <a:ea typeface="Calibri"/>
              </a:rPr>
              <a:t>→ favoritos.js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3566160" y="216720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Array de IDs de libros marcados como favoritos por el usuario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365760" y="3017520"/>
            <a:ext cx="8412120" cy="80424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365760" y="3017520"/>
            <a:ext cx="136800" cy="8042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640080" y="305424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agapea_usuarios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640080" y="34200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alibri"/>
                <a:ea typeface="Calibri"/>
              </a:rPr>
              <a:t>→ usuario.js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3566160" y="312732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Array de objetos de usuario: nombre, apellidos, email, password, fecha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365760" y="3977640"/>
            <a:ext cx="8412120" cy="80424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365760" y="3977640"/>
            <a:ext cx="136800" cy="804240"/>
          </a:xfrm>
          <a:prstGeom prst="rect">
            <a:avLst/>
          </a:prstGeom>
          <a:solidFill>
            <a:srgbClr val="1a7f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640080" y="40143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agapea_usuario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640080" y="43801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9ac2"/>
                </a:solidFill>
                <a:effectLst/>
                <a:uFillTx/>
                <a:latin typeface="Calibri"/>
                <a:ea typeface="Calibri"/>
              </a:rPr>
              <a:t>→ usuario.js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3566160" y="408744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Objeto del usuario con sesión activa (nombre, email)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00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Validación del formulario de registro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365760" y="1234440"/>
            <a:ext cx="402300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365760" y="1234440"/>
            <a:ext cx="109440" cy="8042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594360" y="1289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Nombre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594360" y="16369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a6b8a"/>
                </a:solidFill>
                <a:effectLst/>
                <a:uFillTx/>
                <a:latin typeface="Consolas"/>
                <a:ea typeface="Consolas"/>
              </a:rPr>
              <a:t>Mínimo 2 caracteres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663440" y="1234440"/>
            <a:ext cx="402300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4663440" y="1234440"/>
            <a:ext cx="109440" cy="8042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4892040" y="1289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Apellidos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4892040" y="16369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a6b8a"/>
                </a:solidFill>
                <a:effectLst/>
                <a:uFillTx/>
                <a:latin typeface="Consolas"/>
                <a:ea typeface="Consolas"/>
              </a:rPr>
              <a:t>Mínimo 2 caracteres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365760" y="2194560"/>
            <a:ext cx="402300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1"/>
          <p:cNvSpPr/>
          <p:nvPr/>
        </p:nvSpPr>
        <p:spPr>
          <a:xfrm>
            <a:off x="365760" y="2194560"/>
            <a:ext cx="109440" cy="8042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594360" y="22492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Email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594360" y="2597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a6b8a"/>
                </a:solidFill>
                <a:effectLst/>
                <a:uFillTx/>
                <a:latin typeface="Consolas"/>
                <a:ea typeface="Consolas"/>
              </a:rPr>
              <a:t>Regex /^[^\s@]+@[^\s@]+\.[^\s@]+$/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4663440" y="2194560"/>
            <a:ext cx="402300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4663440" y="2194560"/>
            <a:ext cx="109440" cy="8042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4892040" y="22492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Contraseña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4892040" y="2597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a6b8a"/>
                </a:solidFill>
                <a:effectLst/>
                <a:uFillTx/>
                <a:latin typeface="Consolas"/>
                <a:ea typeface="Consolas"/>
              </a:rPr>
              <a:t>Mínimo 6 caracteres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365760" y="3154680"/>
            <a:ext cx="402300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365760" y="3154680"/>
            <a:ext cx="109440" cy="8042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594360" y="3209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Repetir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594360" y="3557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a6b8a"/>
                </a:solidFill>
                <a:effectLst/>
                <a:uFillTx/>
                <a:latin typeface="Consolas"/>
                <a:ea typeface="Consolas"/>
              </a:rPr>
              <a:t>Debe coincidir con la contraseña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4663440" y="3154680"/>
            <a:ext cx="402300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4663440" y="3154680"/>
            <a:ext cx="109440" cy="8042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4892040" y="3209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2c2c"/>
                </a:solidFill>
                <a:effectLst/>
                <a:uFillTx/>
                <a:latin typeface="Trebuchet MS"/>
                <a:ea typeface="Trebuchet MS"/>
              </a:rPr>
              <a:t>Términos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4892040" y="3557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a6b8a"/>
                </a:solidFill>
                <a:effectLst/>
                <a:uFillTx/>
                <a:latin typeface="Consolas"/>
                <a:ea typeface="Consolas"/>
              </a:rPr>
              <a:t>Checkbox obligatorio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365760" y="429768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Si algún campo falla: se marca con borde rojo (.input-error) y se muestra un mensaje de error debajo del campo. Usuario.registrar() también comprueba que el email no esté ya guardado en localStorage.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Organización del CSS — 4 archivos</a:t>
            </a:r>
            <a:endParaRPr b="0" lang="es-E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365760" y="1051560"/>
            <a:ext cx="8412120" cy="82260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365760" y="1051560"/>
            <a:ext cx="136800" cy="82260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658440" y="11062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base.css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2834640" y="1143000"/>
            <a:ext cx="5760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Reset, tipografía (Verdana), variables de colores, estilos de botones y contenedor general.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365760" y="2039040"/>
            <a:ext cx="8412120" cy="82260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365760" y="2039040"/>
            <a:ext cx="136800" cy="82260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658440" y="20941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layout.css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2834640" y="2130480"/>
            <a:ext cx="5760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Cabecera fija (position:fixed), barra superior oscura, buscador, sidebar, footer y responsive con media queries.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365760" y="3026520"/>
            <a:ext cx="8412120" cy="82260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365760" y="3026520"/>
            <a:ext cx="136800" cy="82260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658440" y="30816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catalogo.css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2834640" y="3117960"/>
            <a:ext cx="5760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Hero banner, tira de características, barra de filtros, grid de libros (CSS Grid auto-fill), tarjetas y paginación.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365760" y="4014360"/>
            <a:ext cx="8412120" cy="822600"/>
          </a:xfrm>
          <a:prstGeom prst="rect">
            <a:avLst/>
          </a:prstGeom>
          <a:solidFill>
            <a:srgbClr val="0d1a4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365760" y="4014360"/>
            <a:ext cx="136800" cy="8226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658440" y="40690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paginas.css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2834640" y="4105800"/>
            <a:ext cx="5760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5d3e8"/>
                </a:solidFill>
                <a:effectLst/>
                <a:uFillTx/>
                <a:latin typeface="Calibri"/>
                <a:ea typeface="Calibri"/>
              </a:rPr>
              <a:t>Ficha de libro, control de cantidad, pestañas, carrito, panel de registro y validación de formularios.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00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Demo en vivo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365760" y="1234440"/>
            <a:ext cx="416016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365760" y="1234440"/>
            <a:ext cx="502560" cy="7311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365760" y="1234440"/>
            <a:ext cx="502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1005840" y="130752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Arrancar el servidor local y abrir index.html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6"/>
          <p:cNvSpPr/>
          <p:nvPr/>
        </p:nvSpPr>
        <p:spPr>
          <a:xfrm>
            <a:off x="365760" y="2121480"/>
            <a:ext cx="416016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365760" y="2121480"/>
            <a:ext cx="502560" cy="7311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365760" y="2121480"/>
            <a:ext cx="502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1005840" y="21945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Filtrar libros por texto y por categoría. Cambiar el orden.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0"/>
          <p:cNvSpPr/>
          <p:nvPr/>
        </p:nvSpPr>
        <p:spPr>
          <a:xfrm>
            <a:off x="365760" y="3008520"/>
            <a:ext cx="416016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365760" y="3008520"/>
            <a:ext cx="502560" cy="7311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365760" y="3008520"/>
            <a:ext cx="502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1005840" y="308160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Navegar a la ficha de un libro y añadirlo al carrito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365760" y="3895200"/>
            <a:ext cx="416016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365760" y="3895200"/>
            <a:ext cx="502560" cy="7311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365760" y="3895200"/>
            <a:ext cx="502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7"/>
          <p:cNvSpPr/>
          <p:nvPr/>
        </p:nvSpPr>
        <p:spPr>
          <a:xfrm>
            <a:off x="1005840" y="396864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Marcar varios libros como favoritos (el corazón se activa)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8"/>
          <p:cNvSpPr/>
          <p:nvPr/>
        </p:nvSpPr>
        <p:spPr>
          <a:xfrm>
            <a:off x="4800600" y="1234440"/>
            <a:ext cx="416016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9"/>
          <p:cNvSpPr/>
          <p:nvPr/>
        </p:nvSpPr>
        <p:spPr>
          <a:xfrm>
            <a:off x="4800600" y="1234440"/>
            <a:ext cx="502560" cy="7311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4800600" y="1234440"/>
            <a:ext cx="502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5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1"/>
          <p:cNvSpPr/>
          <p:nvPr/>
        </p:nvSpPr>
        <p:spPr>
          <a:xfrm>
            <a:off x="5440680" y="130752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Abrir el carrito, cambiar cantidades y aplicar un cupón (AGAPEA10)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2"/>
          <p:cNvSpPr/>
          <p:nvPr/>
        </p:nvSpPr>
        <p:spPr>
          <a:xfrm>
            <a:off x="4800600" y="2121480"/>
            <a:ext cx="416016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3"/>
          <p:cNvSpPr/>
          <p:nvPr/>
        </p:nvSpPr>
        <p:spPr>
          <a:xfrm>
            <a:off x="4800600" y="2121480"/>
            <a:ext cx="502560" cy="7311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4"/>
          <p:cNvSpPr/>
          <p:nvPr/>
        </p:nvSpPr>
        <p:spPr>
          <a:xfrm>
            <a:off x="4800600" y="2121480"/>
            <a:ext cx="502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6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5440680" y="21945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Confirmar el pedido → alert + carrito vacío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6"/>
          <p:cNvSpPr/>
          <p:nvPr/>
        </p:nvSpPr>
        <p:spPr>
          <a:xfrm>
            <a:off x="4800600" y="3008520"/>
            <a:ext cx="416016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7"/>
          <p:cNvSpPr/>
          <p:nvPr/>
        </p:nvSpPr>
        <p:spPr>
          <a:xfrm>
            <a:off x="4800600" y="3008520"/>
            <a:ext cx="502560" cy="73116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4800600" y="3008520"/>
            <a:ext cx="502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7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9"/>
          <p:cNvSpPr/>
          <p:nvPr/>
        </p:nvSpPr>
        <p:spPr>
          <a:xfrm>
            <a:off x="5440680" y="308160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Ir a Login → registrar una cuenta nueva y ver la validación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4114800"/>
            <a:ext cx="9143640" cy="1028520"/>
          </a:xfrm>
          <a:prstGeom prst="rect">
            <a:avLst/>
          </a:prstGeom>
          <a:solidFill>
            <a:srgbClr val="f85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4864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Conclusión</a:t>
            </a:r>
            <a:endParaRPr b="0" lang="es-E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548640" y="1051560"/>
            <a:ext cx="347040" cy="3470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548640" y="1051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1051560" y="105156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0dcef"/>
                </a:solidFill>
                <a:effectLst/>
                <a:uFillTx/>
                <a:latin typeface="Calibri"/>
                <a:ea typeface="Calibri"/>
              </a:rPr>
              <a:t>Aplicación completa con 4 páginas conectadas entre sí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548640" y="1627560"/>
            <a:ext cx="347040" cy="3470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548640" y="1627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1051560" y="162756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0dcef"/>
                </a:solidFill>
                <a:effectLst/>
                <a:uFillTx/>
                <a:latin typeface="Calibri"/>
                <a:ea typeface="Calibri"/>
              </a:rPr>
              <a:t>Uso de fetch asíncrono, ES Modules y localStorage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>
            <a:off x="548640" y="2203560"/>
            <a:ext cx="347040" cy="3470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54864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1051560" y="220356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0dcef"/>
                </a:solidFill>
                <a:effectLst/>
                <a:uFillTx/>
                <a:latin typeface="Calibri"/>
                <a:ea typeface="Calibri"/>
              </a:rPr>
              <a:t>Filtros, búsqueda y paginación en el catálogo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1"/>
          <p:cNvSpPr/>
          <p:nvPr/>
        </p:nvSpPr>
        <p:spPr>
          <a:xfrm>
            <a:off x="548640" y="2779920"/>
            <a:ext cx="347040" cy="3470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2"/>
          <p:cNvSpPr/>
          <p:nvPr/>
        </p:nvSpPr>
        <p:spPr>
          <a:xfrm>
            <a:off x="548640" y="2779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1051560" y="277992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0dcef"/>
                </a:solidFill>
                <a:effectLst/>
                <a:uFillTx/>
                <a:latin typeface="Calibri"/>
                <a:ea typeface="Calibri"/>
              </a:rPr>
              <a:t>Validación de formularios sin librerías externas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4"/>
          <p:cNvSpPr/>
          <p:nvPr/>
        </p:nvSpPr>
        <p:spPr>
          <a:xfrm>
            <a:off x="548640" y="3355920"/>
            <a:ext cx="347040" cy="347040"/>
          </a:xfrm>
          <a:prstGeom prst="rect">
            <a:avLst/>
          </a:prstGeom>
          <a:solidFill>
            <a:srgbClr val="006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5"/>
          <p:cNvSpPr/>
          <p:nvPr/>
        </p:nvSpPr>
        <p:spPr>
          <a:xfrm>
            <a:off x="548640" y="3355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5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6"/>
          <p:cNvSpPr/>
          <p:nvPr/>
        </p:nvSpPr>
        <p:spPr>
          <a:xfrm>
            <a:off x="1051560" y="3355920"/>
            <a:ext cx="7497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0dcef"/>
                </a:solidFill>
                <a:effectLst/>
                <a:uFillTx/>
                <a:latin typeface="Calibri"/>
                <a:ea typeface="Calibri"/>
              </a:rPr>
              <a:t>CSS organizado en 4 archivos con diseño responsive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0" y="4114800"/>
            <a:ext cx="91436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¡Gracias por vuestra atención!</a:t>
            </a:r>
            <a:endParaRPr b="0" lang="es-E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2026-03-11T21:19:31Z</dcterms:created>
  <dc:creator>PptxGenJS</dc:creator>
  <dc:description/>
  <dc:language>es-ES</dc:language>
  <cp:lastModifiedBy/>
  <dcterms:modified xsi:type="dcterms:W3CDTF">2026-03-12T10:25:14Z</dcterms:modified>
  <cp:revision>2</cp:revision>
  <dc:subject>PptxGenJS Presentation</dc:subject>
  <dc:title>Clon de Agapea.com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