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3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3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desplazar la diapositiva</a:t>
            </a: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las notas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ACBD994-E7D6-4F55-B900-5708EDDA8C22}" type="slidenum"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D3219A5-C07B-4AA3-A1C2-B98952EB719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2FEB835-C02A-457A-B3DC-8DB538D6045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0D57316-8071-4870-A59B-5565ABBFF9B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5853657-7773-4EF2-B92B-51B47684A05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E5589E6-0DF5-4E30-AAD8-0D81BCAC7D1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0389AAF-65E5-4E32-BDFF-748565C4D72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1733695-600F-4713-8CB4-45A8BAD36E9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DBC0781-5E51-4B93-BC99-6BAC3650A31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4F33611-48F6-4D04-96B9-D7B2408850B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0A482DC-64DA-4C8E-955D-740C1A9735D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276E857-16B3-4797-87F9-1C8147E221A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F068FEE-B83F-49F6-BFCE-6E442D57B5F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D7D4ACD-04FC-4304-90F1-F588F31D3D2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23253CC-E2E8-4C82-90C1-0ED5E27E3A7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359A2F4-FAB6-4817-B98A-FD180B7F002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E605FAC-E0C4-4C46-8526-489D2A0FC85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6F02689-4A2B-42E9-BA79-F1FCBD3C04D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18CD30C-FEDF-4A03-832E-19E2F7710AD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</a:t>
            </a:r>
            <a:r>
              <a: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texto de título</a:t>
            </a: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redetermina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image" Target="../media/image5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0"/>
          <p:cNvSpPr/>
          <p:nvPr/>
        </p:nvSpPr>
        <p:spPr>
          <a:xfrm>
            <a:off x="0" y="0"/>
            <a:ext cx="9142920" cy="108720"/>
          </a:xfrm>
          <a:prstGeom prst="rect">
            <a:avLst/>
          </a:prstGeom>
          <a:solidFill>
            <a:srgbClr val="c9973a"/>
          </a:solidFill>
          <a:ln w="12600">
            <a:solidFill>
              <a:srgbClr val="c997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" name="Shape 1"/>
          <p:cNvSpPr/>
          <p:nvPr/>
        </p:nvSpPr>
        <p:spPr>
          <a:xfrm>
            <a:off x="0" y="5029200"/>
            <a:ext cx="9142920" cy="113400"/>
          </a:xfrm>
          <a:prstGeom prst="rect">
            <a:avLst/>
          </a:prstGeom>
          <a:solidFill>
            <a:srgbClr val="c9973a"/>
          </a:solidFill>
          <a:ln w="12600">
            <a:solidFill>
              <a:srgbClr val="c997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7" name="Text 2"/>
          <p:cNvSpPr/>
          <p:nvPr/>
        </p:nvSpPr>
        <p:spPr>
          <a:xfrm>
            <a:off x="548640" y="1097280"/>
            <a:ext cx="8045640" cy="12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5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Clon de Agapea</a:t>
            </a:r>
            <a:endParaRPr lang="es-ES" sz="5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3"/>
          <p:cNvSpPr/>
          <p:nvPr/>
        </p:nvSpPr>
        <p:spPr>
          <a:xfrm>
            <a:off x="548640" y="2423160"/>
            <a:ext cx="804564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0" i="1" u="none" strike="noStrike">
                <a:solidFill>
                  <a:srgbClr val="c9973a"/>
                </a:solidFill>
                <a:effectLst/>
                <a:uFillTx/>
                <a:latin typeface="Calibri"/>
                <a:ea typeface="Calibri"/>
              </a:rPr>
              <a:t>Plataforma de Venta de Libros Online</a:t>
            </a:r>
            <a:endParaRPr lang="es-E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4"/>
          <p:cNvSpPr/>
          <p:nvPr/>
        </p:nvSpPr>
        <p:spPr>
          <a:xfrm>
            <a:off x="502920" y="3246120"/>
            <a:ext cx="1919160" cy="410400"/>
          </a:xfrm>
          <a:prstGeom prst="roundRect">
            <a:avLst>
              <a:gd name="adj" fmla="val 13333"/>
            </a:avLst>
          </a:prstGeom>
          <a:solidFill>
            <a:srgbClr val="223366"/>
          </a:solidFill>
          <a:ln w="12600">
            <a:solidFill>
              <a:srgbClr val="c997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0" name="Text 5"/>
          <p:cNvSpPr/>
          <p:nvPr/>
        </p:nvSpPr>
        <p:spPr>
          <a:xfrm>
            <a:off x="502920" y="3246120"/>
            <a:ext cx="191916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c9973a"/>
                </a:solidFill>
                <a:effectLst/>
                <a:uFillTx/>
                <a:latin typeface="Calibri"/>
                <a:ea typeface="Calibri"/>
              </a:rPr>
              <a:t>PHP 8 · Laravel</a:t>
            </a:r>
            <a:endParaRPr lang="es-E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6"/>
          <p:cNvSpPr/>
          <p:nvPr/>
        </p:nvSpPr>
        <p:spPr>
          <a:xfrm>
            <a:off x="2560320" y="3246120"/>
            <a:ext cx="1919160" cy="410400"/>
          </a:xfrm>
          <a:prstGeom prst="roundRect">
            <a:avLst>
              <a:gd name="adj" fmla="val 13333"/>
            </a:avLst>
          </a:prstGeom>
          <a:solidFill>
            <a:srgbClr val="223366"/>
          </a:solidFill>
          <a:ln w="12600">
            <a:solidFill>
              <a:srgbClr val="c997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2" name="Text 7"/>
          <p:cNvSpPr/>
          <p:nvPr/>
        </p:nvSpPr>
        <p:spPr>
          <a:xfrm>
            <a:off x="2560320" y="3246120"/>
            <a:ext cx="191916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c9973a"/>
                </a:solidFill>
                <a:effectLst/>
                <a:uFillTx/>
                <a:latin typeface="Calibri"/>
                <a:ea typeface="Calibri"/>
              </a:rPr>
              <a:t>Vanilla JS ES6+</a:t>
            </a:r>
            <a:endParaRPr lang="es-E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8"/>
          <p:cNvSpPr/>
          <p:nvPr/>
        </p:nvSpPr>
        <p:spPr>
          <a:xfrm>
            <a:off x="4617720" y="3246120"/>
            <a:ext cx="1919160" cy="410400"/>
          </a:xfrm>
          <a:prstGeom prst="roundRect">
            <a:avLst>
              <a:gd name="adj" fmla="val 13333"/>
            </a:avLst>
          </a:prstGeom>
          <a:solidFill>
            <a:srgbClr val="223366"/>
          </a:solidFill>
          <a:ln w="12600">
            <a:solidFill>
              <a:srgbClr val="c997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4" name="Text 9"/>
          <p:cNvSpPr/>
          <p:nvPr/>
        </p:nvSpPr>
        <p:spPr>
          <a:xfrm>
            <a:off x="4617720" y="3246120"/>
            <a:ext cx="191916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c9973a"/>
                </a:solidFill>
                <a:effectLst/>
                <a:uFillTx/>
                <a:latin typeface="Calibri"/>
                <a:ea typeface="Calibri"/>
              </a:rPr>
              <a:t>MySQL / MariaDB</a:t>
            </a:r>
            <a:endParaRPr lang="es-E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0"/>
          <p:cNvSpPr/>
          <p:nvPr/>
        </p:nvSpPr>
        <p:spPr>
          <a:xfrm>
            <a:off x="6675120" y="3246120"/>
            <a:ext cx="1919160" cy="410400"/>
          </a:xfrm>
          <a:prstGeom prst="roundRect">
            <a:avLst>
              <a:gd name="adj" fmla="val 13333"/>
            </a:avLst>
          </a:prstGeom>
          <a:solidFill>
            <a:srgbClr val="223366"/>
          </a:solidFill>
          <a:ln w="12600">
            <a:solidFill>
              <a:srgbClr val="c997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6" name="Text 11"/>
          <p:cNvSpPr/>
          <p:nvPr/>
        </p:nvSpPr>
        <p:spPr>
          <a:xfrm>
            <a:off x="6675120" y="3246120"/>
            <a:ext cx="191916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c9973a"/>
                </a:solidFill>
                <a:effectLst/>
                <a:uFillTx/>
                <a:latin typeface="Calibri"/>
                <a:ea typeface="Calibri"/>
              </a:rPr>
              <a:t>API REST · Headless</a:t>
            </a:r>
            <a:endParaRPr lang="es-E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2"/>
          <p:cNvSpPr/>
          <p:nvPr/>
        </p:nvSpPr>
        <p:spPr>
          <a:xfrm>
            <a:off x="548640" y="3931920"/>
            <a:ext cx="804564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7b9bcc"/>
                </a:solidFill>
                <a:effectLst/>
                <a:uFillTx/>
                <a:latin typeface="Calibri"/>
                <a:ea typeface="Calibri"/>
              </a:rPr>
              <a:t>Richard Clive Elespuru Rojas · Tomás Pitaluga Díaz  |  ASIR - 2026</a:t>
            </a:r>
            <a:endParaRPr lang="es-E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ldBar"/>
          <p:cNvSpPr/>
          <p:nvPr/>
        </p:nvSpPr>
        <p:spPr>
          <a:xfrm>
            <a:off x="365760" y="201240"/>
            <a:ext cx="54000" cy="502200"/>
          </a:xfrm>
          <a:prstGeom prst="rect">
            <a:avLst/>
          </a:prstGeom>
          <a:solidFill>
            <a:srgbClr val="c9973a"/>
          </a:solidFill>
          <a:ln w="12600">
            <a:solidFill>
              <a:srgbClr val="c997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9" name="Title"/>
          <p:cNvSpPr/>
          <p:nvPr/>
        </p:nvSpPr>
        <p:spPr>
          <a:xfrm>
            <a:off x="502920" y="164520"/>
            <a:ext cx="83203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s-ES" sz="2600" b="1" u="none" strike="noStrike">
                <a:solidFill>
                  <a:srgbClr val="1a2744"/>
                </a:solidFill>
                <a:effectLst/>
                <a:uFillTx/>
                <a:latin typeface="Calibri"/>
                <a:ea typeface="DejaVu Sans"/>
              </a:rPr>
              <a:t>Índice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Divider"/>
          <p:cNvSpPr/>
          <p:nvPr/>
        </p:nvSpPr>
        <p:spPr>
          <a:xfrm>
            <a:off x="365760" y="777240"/>
            <a:ext cx="8412480" cy="360"/>
          </a:xfrm>
          <a:prstGeom prst="line">
            <a:avLst/>
          </a:prstGeom>
          <a:ln w="15120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1" name="CardBG_01"/>
          <p:cNvSpPr/>
          <p:nvPr/>
        </p:nvSpPr>
        <p:spPr>
          <a:xfrm>
            <a:off x="365760" y="875520"/>
            <a:ext cx="4023000" cy="337320"/>
          </a:xfrm>
          <a:prstGeom prst="rect">
            <a:avLst/>
          </a:prstGeom>
          <a:solidFill>
            <a:srgbClr val="f4f6fb"/>
          </a:solidFill>
          <a:ln w="9072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2" name="Num_01"/>
          <p:cNvSpPr/>
          <p:nvPr/>
        </p:nvSpPr>
        <p:spPr>
          <a:xfrm>
            <a:off x="457200" y="875520"/>
            <a:ext cx="35964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c9973a"/>
                </a:solidFill>
                <a:effectLst/>
                <a:uFillTx/>
                <a:latin typeface="Calibri"/>
                <a:ea typeface="DejaVu Sans"/>
              </a:rPr>
              <a:t>01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ep_01"/>
          <p:cNvSpPr/>
          <p:nvPr/>
        </p:nvSpPr>
        <p:spPr>
          <a:xfrm>
            <a:off x="871920" y="882360"/>
            <a:ext cx="26640" cy="323640"/>
          </a:xfrm>
          <a:prstGeom prst="rect">
            <a:avLst/>
          </a:prstGeom>
          <a:solidFill>
            <a:srgbClr val="7b8b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4" name="Label_01"/>
          <p:cNvSpPr/>
          <p:nvPr/>
        </p:nvSpPr>
        <p:spPr>
          <a:xfrm>
            <a:off x="945720" y="875520"/>
            <a:ext cx="339768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000" rIns="45000" tIns="0" bIns="0" anchor="ctr">
            <a:noAutofit/>
          </a:bodyPr>
          <a:p>
            <a:pPr>
              <a:lnSpc>
                <a:spcPct val="100000"/>
              </a:lnSpc>
            </a:pPr>
            <a:r>
              <a:rPr lang="es-ES" sz="120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DejaVu Sans"/>
              </a:rPr>
              <a:t>Descripción del Proyecto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CardBG_02"/>
          <p:cNvSpPr/>
          <p:nvPr/>
        </p:nvSpPr>
        <p:spPr>
          <a:xfrm>
            <a:off x="365760" y="1234800"/>
            <a:ext cx="4023000" cy="337320"/>
          </a:xfrm>
          <a:prstGeom prst="rect">
            <a:avLst/>
          </a:prstGeom>
          <a:solidFill>
            <a:srgbClr val="f4f6fb"/>
          </a:solidFill>
          <a:ln w="9072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6" name="Num_02"/>
          <p:cNvSpPr/>
          <p:nvPr/>
        </p:nvSpPr>
        <p:spPr>
          <a:xfrm>
            <a:off x="457200" y="1234800"/>
            <a:ext cx="35964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c9973a"/>
                </a:solidFill>
                <a:effectLst/>
                <a:uFillTx/>
                <a:latin typeface="Calibri"/>
                <a:ea typeface="DejaVu Sans"/>
              </a:rPr>
              <a:t>02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ep_02"/>
          <p:cNvSpPr/>
          <p:nvPr/>
        </p:nvSpPr>
        <p:spPr>
          <a:xfrm>
            <a:off x="871920" y="1241640"/>
            <a:ext cx="26640" cy="323640"/>
          </a:xfrm>
          <a:prstGeom prst="rect">
            <a:avLst/>
          </a:prstGeom>
          <a:solidFill>
            <a:srgbClr val="7b8b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8" name="Label_02"/>
          <p:cNvSpPr/>
          <p:nvPr/>
        </p:nvSpPr>
        <p:spPr>
          <a:xfrm>
            <a:off x="945720" y="1234800"/>
            <a:ext cx="339768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000" rIns="45000" tIns="0" bIns="0" anchor="ctr">
            <a:noAutofit/>
          </a:bodyPr>
          <a:p>
            <a:pPr>
              <a:lnSpc>
                <a:spcPct val="100000"/>
              </a:lnSpc>
            </a:pPr>
            <a:r>
              <a:rPr lang="es-ES" sz="120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DejaVu Sans"/>
              </a:rPr>
              <a:t>Requisitos Funcionales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CardBG_03"/>
          <p:cNvSpPr/>
          <p:nvPr/>
        </p:nvSpPr>
        <p:spPr>
          <a:xfrm>
            <a:off x="365760" y="1594080"/>
            <a:ext cx="4023000" cy="337320"/>
          </a:xfrm>
          <a:prstGeom prst="rect">
            <a:avLst/>
          </a:prstGeom>
          <a:solidFill>
            <a:srgbClr val="f4f6fb"/>
          </a:solidFill>
          <a:ln w="9072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0" name="Num_03"/>
          <p:cNvSpPr/>
          <p:nvPr/>
        </p:nvSpPr>
        <p:spPr>
          <a:xfrm>
            <a:off x="457200" y="1594080"/>
            <a:ext cx="35964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c9973a"/>
                </a:solidFill>
                <a:effectLst/>
                <a:uFillTx/>
                <a:latin typeface="Calibri"/>
                <a:ea typeface="DejaVu Sans"/>
              </a:rPr>
              <a:t>03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ep_03"/>
          <p:cNvSpPr/>
          <p:nvPr/>
        </p:nvSpPr>
        <p:spPr>
          <a:xfrm>
            <a:off x="871920" y="1600920"/>
            <a:ext cx="26640" cy="323640"/>
          </a:xfrm>
          <a:prstGeom prst="rect">
            <a:avLst/>
          </a:prstGeom>
          <a:solidFill>
            <a:srgbClr val="7b8b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2" name="Label_03"/>
          <p:cNvSpPr/>
          <p:nvPr/>
        </p:nvSpPr>
        <p:spPr>
          <a:xfrm>
            <a:off x="945720" y="1594080"/>
            <a:ext cx="339768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000" rIns="45000" tIns="0" bIns="0" anchor="ctr">
            <a:noAutofit/>
          </a:bodyPr>
          <a:p>
            <a:pPr>
              <a:lnSpc>
                <a:spcPct val="100000"/>
              </a:lnSpc>
            </a:pPr>
            <a:r>
              <a:rPr lang="es-ES" sz="120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DejaVu Sans"/>
              </a:rPr>
              <a:t>Arquitectura del Sistema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CardBG_04"/>
          <p:cNvSpPr/>
          <p:nvPr/>
        </p:nvSpPr>
        <p:spPr>
          <a:xfrm>
            <a:off x="365760" y="1953360"/>
            <a:ext cx="4023000" cy="337320"/>
          </a:xfrm>
          <a:prstGeom prst="rect">
            <a:avLst/>
          </a:prstGeom>
          <a:solidFill>
            <a:srgbClr val="f4f6fb"/>
          </a:solidFill>
          <a:ln w="9072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4" name="Num_04"/>
          <p:cNvSpPr/>
          <p:nvPr/>
        </p:nvSpPr>
        <p:spPr>
          <a:xfrm>
            <a:off x="457200" y="1953360"/>
            <a:ext cx="35964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c9973a"/>
                </a:solidFill>
                <a:effectLst/>
                <a:uFillTx/>
                <a:latin typeface="Calibri"/>
                <a:ea typeface="DejaVu Sans"/>
              </a:rPr>
              <a:t>04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ep_04"/>
          <p:cNvSpPr/>
          <p:nvPr/>
        </p:nvSpPr>
        <p:spPr>
          <a:xfrm>
            <a:off x="871920" y="1960200"/>
            <a:ext cx="26640" cy="323640"/>
          </a:xfrm>
          <a:prstGeom prst="rect">
            <a:avLst/>
          </a:prstGeom>
          <a:solidFill>
            <a:srgbClr val="7b8b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6" name="Label_04"/>
          <p:cNvSpPr/>
          <p:nvPr/>
        </p:nvSpPr>
        <p:spPr>
          <a:xfrm>
            <a:off x="945720" y="1953360"/>
            <a:ext cx="339768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000" rIns="45000" tIns="0" bIns="0" anchor="ctr">
            <a:noAutofit/>
          </a:bodyPr>
          <a:p>
            <a:pPr>
              <a:lnSpc>
                <a:spcPct val="100000"/>
              </a:lnSpc>
            </a:pPr>
            <a:r>
              <a:rPr lang="es-ES" sz="120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DejaVu Sans"/>
              </a:rPr>
              <a:t>Stack Tecnológico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CardBG_05"/>
          <p:cNvSpPr/>
          <p:nvPr/>
        </p:nvSpPr>
        <p:spPr>
          <a:xfrm>
            <a:off x="365760" y="2312640"/>
            <a:ext cx="4023000" cy="337320"/>
          </a:xfrm>
          <a:prstGeom prst="rect">
            <a:avLst/>
          </a:prstGeom>
          <a:solidFill>
            <a:srgbClr val="f4f6fb"/>
          </a:solidFill>
          <a:ln w="9072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8" name="Num_05"/>
          <p:cNvSpPr/>
          <p:nvPr/>
        </p:nvSpPr>
        <p:spPr>
          <a:xfrm>
            <a:off x="457200" y="2312640"/>
            <a:ext cx="35964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c9973a"/>
                </a:solidFill>
                <a:effectLst/>
                <a:uFillTx/>
                <a:latin typeface="Calibri"/>
                <a:ea typeface="DejaVu Sans"/>
              </a:rPr>
              <a:t>05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ep_05"/>
          <p:cNvSpPr/>
          <p:nvPr/>
        </p:nvSpPr>
        <p:spPr>
          <a:xfrm>
            <a:off x="871920" y="2319480"/>
            <a:ext cx="26640" cy="323640"/>
          </a:xfrm>
          <a:prstGeom prst="rect">
            <a:avLst/>
          </a:prstGeom>
          <a:solidFill>
            <a:srgbClr val="7b8b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0" name="Label_05"/>
          <p:cNvSpPr/>
          <p:nvPr/>
        </p:nvSpPr>
        <p:spPr>
          <a:xfrm>
            <a:off x="945720" y="2312640"/>
            <a:ext cx="339768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000" rIns="45000" tIns="0" bIns="0" anchor="ctr">
            <a:noAutofit/>
          </a:bodyPr>
          <a:p>
            <a:pPr>
              <a:lnSpc>
                <a:spcPct val="100000"/>
              </a:lnSpc>
            </a:pPr>
            <a:r>
              <a:rPr lang="es-ES" sz="120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DejaVu Sans"/>
              </a:rPr>
              <a:t>Diseño de Interfaces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CardBG_06"/>
          <p:cNvSpPr/>
          <p:nvPr/>
        </p:nvSpPr>
        <p:spPr>
          <a:xfrm>
            <a:off x="365760" y="2671920"/>
            <a:ext cx="4023000" cy="337320"/>
          </a:xfrm>
          <a:prstGeom prst="rect">
            <a:avLst/>
          </a:prstGeom>
          <a:solidFill>
            <a:srgbClr val="f4f6fb"/>
          </a:solidFill>
          <a:ln w="9072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2" name="Num_06"/>
          <p:cNvSpPr/>
          <p:nvPr/>
        </p:nvSpPr>
        <p:spPr>
          <a:xfrm>
            <a:off x="457200" y="2671920"/>
            <a:ext cx="35964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c9973a"/>
                </a:solidFill>
                <a:effectLst/>
                <a:uFillTx/>
                <a:latin typeface="Calibri"/>
                <a:ea typeface="DejaVu Sans"/>
              </a:rPr>
              <a:t>06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ep_06"/>
          <p:cNvSpPr/>
          <p:nvPr/>
        </p:nvSpPr>
        <p:spPr>
          <a:xfrm>
            <a:off x="871920" y="2678760"/>
            <a:ext cx="26640" cy="323640"/>
          </a:xfrm>
          <a:prstGeom prst="rect">
            <a:avLst/>
          </a:prstGeom>
          <a:solidFill>
            <a:srgbClr val="7b8b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4" name="Label_06"/>
          <p:cNvSpPr/>
          <p:nvPr/>
        </p:nvSpPr>
        <p:spPr>
          <a:xfrm>
            <a:off x="945720" y="2671920"/>
            <a:ext cx="339768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000" rIns="45000" tIns="0" bIns="0" anchor="ctr">
            <a:noAutofit/>
          </a:bodyPr>
          <a:p>
            <a:pPr>
              <a:lnSpc>
                <a:spcPct val="100000"/>
              </a:lnSpc>
            </a:pPr>
            <a:r>
              <a:rPr lang="es-ES" sz="120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DejaVu Sans"/>
              </a:rPr>
              <a:t>Base de Datos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CardBG_07"/>
          <p:cNvSpPr/>
          <p:nvPr/>
        </p:nvSpPr>
        <p:spPr>
          <a:xfrm>
            <a:off x="4754880" y="875520"/>
            <a:ext cx="4023000" cy="337320"/>
          </a:xfrm>
          <a:prstGeom prst="rect">
            <a:avLst/>
          </a:prstGeom>
          <a:solidFill>
            <a:srgbClr val="f4f6fb"/>
          </a:solidFill>
          <a:ln w="9072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6" name="Num_07"/>
          <p:cNvSpPr/>
          <p:nvPr/>
        </p:nvSpPr>
        <p:spPr>
          <a:xfrm>
            <a:off x="4846320" y="875520"/>
            <a:ext cx="35964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c9973a"/>
                </a:solidFill>
                <a:effectLst/>
                <a:uFillTx/>
                <a:latin typeface="Calibri"/>
                <a:ea typeface="DejaVu Sans"/>
              </a:rPr>
              <a:t>07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ep_07"/>
          <p:cNvSpPr/>
          <p:nvPr/>
        </p:nvSpPr>
        <p:spPr>
          <a:xfrm>
            <a:off x="5261040" y="882360"/>
            <a:ext cx="26640" cy="323640"/>
          </a:xfrm>
          <a:prstGeom prst="rect">
            <a:avLst/>
          </a:prstGeom>
          <a:solidFill>
            <a:srgbClr val="7b8b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8" name="Label_07"/>
          <p:cNvSpPr/>
          <p:nvPr/>
        </p:nvSpPr>
        <p:spPr>
          <a:xfrm>
            <a:off x="5334840" y="875520"/>
            <a:ext cx="339768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000" rIns="45000" tIns="0" bIns="0" anchor="ctr">
            <a:noAutofit/>
          </a:bodyPr>
          <a:p>
            <a:pPr>
              <a:lnSpc>
                <a:spcPct val="100000"/>
              </a:lnSpc>
            </a:pPr>
            <a:r>
              <a:rPr lang="es-ES" sz="120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DejaVu Sans"/>
              </a:rPr>
              <a:t>API REST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CardBG_08"/>
          <p:cNvSpPr/>
          <p:nvPr/>
        </p:nvSpPr>
        <p:spPr>
          <a:xfrm>
            <a:off x="4754880" y="1234800"/>
            <a:ext cx="4023000" cy="337320"/>
          </a:xfrm>
          <a:prstGeom prst="rect">
            <a:avLst/>
          </a:prstGeom>
          <a:solidFill>
            <a:srgbClr val="f4f6fb"/>
          </a:solidFill>
          <a:ln w="9072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0" name="Num_08"/>
          <p:cNvSpPr/>
          <p:nvPr/>
        </p:nvSpPr>
        <p:spPr>
          <a:xfrm>
            <a:off x="4846320" y="1234800"/>
            <a:ext cx="35964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c9973a"/>
                </a:solidFill>
                <a:effectLst/>
                <a:uFillTx/>
                <a:latin typeface="Calibri"/>
                <a:ea typeface="DejaVu Sans"/>
              </a:rPr>
              <a:t>08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ep_08"/>
          <p:cNvSpPr/>
          <p:nvPr/>
        </p:nvSpPr>
        <p:spPr>
          <a:xfrm>
            <a:off x="5261040" y="1241640"/>
            <a:ext cx="26640" cy="323640"/>
          </a:xfrm>
          <a:prstGeom prst="rect">
            <a:avLst/>
          </a:prstGeom>
          <a:solidFill>
            <a:srgbClr val="7b8b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2" name="Label_08"/>
          <p:cNvSpPr/>
          <p:nvPr/>
        </p:nvSpPr>
        <p:spPr>
          <a:xfrm>
            <a:off x="5334840" y="1234800"/>
            <a:ext cx="339768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000" rIns="45000" tIns="0" bIns="0" anchor="ctr">
            <a:noAutofit/>
          </a:bodyPr>
          <a:p>
            <a:pPr>
              <a:lnSpc>
                <a:spcPct val="100000"/>
              </a:lnSpc>
            </a:pPr>
            <a:r>
              <a:rPr lang="es-ES" sz="120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DejaVu Sans"/>
              </a:rPr>
              <a:t>Funcionalidades Clave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CardBG_09"/>
          <p:cNvSpPr/>
          <p:nvPr/>
        </p:nvSpPr>
        <p:spPr>
          <a:xfrm>
            <a:off x="4754880" y="1594080"/>
            <a:ext cx="4023000" cy="337320"/>
          </a:xfrm>
          <a:prstGeom prst="rect">
            <a:avLst/>
          </a:prstGeom>
          <a:solidFill>
            <a:srgbClr val="f4f6fb"/>
          </a:solidFill>
          <a:ln w="9072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4" name="Num_09"/>
          <p:cNvSpPr/>
          <p:nvPr/>
        </p:nvSpPr>
        <p:spPr>
          <a:xfrm>
            <a:off x="4846320" y="1594080"/>
            <a:ext cx="35964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c9973a"/>
                </a:solidFill>
                <a:effectLst/>
                <a:uFillTx/>
                <a:latin typeface="Calibri"/>
                <a:ea typeface="DejaVu Sans"/>
              </a:rPr>
              <a:t>09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ep_09"/>
          <p:cNvSpPr/>
          <p:nvPr/>
        </p:nvSpPr>
        <p:spPr>
          <a:xfrm>
            <a:off x="5261040" y="1600920"/>
            <a:ext cx="26640" cy="323640"/>
          </a:xfrm>
          <a:prstGeom prst="rect">
            <a:avLst/>
          </a:prstGeom>
          <a:solidFill>
            <a:srgbClr val="7b8b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6" name="Label_09"/>
          <p:cNvSpPr/>
          <p:nvPr/>
        </p:nvSpPr>
        <p:spPr>
          <a:xfrm>
            <a:off x="5334840" y="1594080"/>
            <a:ext cx="339768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000" rIns="45000" tIns="0" bIns="0" anchor="ctr">
            <a:noAutofit/>
          </a:bodyPr>
          <a:p>
            <a:pPr>
              <a:lnSpc>
                <a:spcPct val="100000"/>
              </a:lnSpc>
            </a:pPr>
            <a:r>
              <a:rPr lang="es-ES" sz="120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DejaVu Sans"/>
              </a:rPr>
              <a:t>Seguridad y Autenticación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CardBG_10"/>
          <p:cNvSpPr/>
          <p:nvPr/>
        </p:nvSpPr>
        <p:spPr>
          <a:xfrm>
            <a:off x="4754880" y="1953360"/>
            <a:ext cx="4023000" cy="337320"/>
          </a:xfrm>
          <a:prstGeom prst="rect">
            <a:avLst/>
          </a:prstGeom>
          <a:solidFill>
            <a:srgbClr val="f4f6fb"/>
          </a:solidFill>
          <a:ln w="9072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8" name="Num_10"/>
          <p:cNvSpPr/>
          <p:nvPr/>
        </p:nvSpPr>
        <p:spPr>
          <a:xfrm>
            <a:off x="4846320" y="1953360"/>
            <a:ext cx="35964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c9973a"/>
                </a:solidFill>
                <a:effectLst/>
                <a:uFillTx/>
                <a:latin typeface="Calibri"/>
                <a:ea typeface="DejaVu Sans"/>
              </a:rPr>
              <a:t>10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ep_10"/>
          <p:cNvSpPr/>
          <p:nvPr/>
        </p:nvSpPr>
        <p:spPr>
          <a:xfrm>
            <a:off x="5261040" y="1960200"/>
            <a:ext cx="26640" cy="323640"/>
          </a:xfrm>
          <a:prstGeom prst="rect">
            <a:avLst/>
          </a:prstGeom>
          <a:solidFill>
            <a:srgbClr val="7b8b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0" name="Label_10"/>
          <p:cNvSpPr/>
          <p:nvPr/>
        </p:nvSpPr>
        <p:spPr>
          <a:xfrm>
            <a:off x="5334840" y="1953360"/>
            <a:ext cx="339768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000" rIns="45000" tIns="0" bIns="0" anchor="ctr">
            <a:noAutofit/>
          </a:bodyPr>
          <a:p>
            <a:pPr>
              <a:lnSpc>
                <a:spcPct val="100000"/>
              </a:lnSpc>
            </a:pPr>
            <a:r>
              <a:rPr lang="es-ES" sz="120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DejaVu Sans"/>
              </a:rPr>
              <a:t>Uso de Inteligencia Artificial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CardBG_11"/>
          <p:cNvSpPr/>
          <p:nvPr/>
        </p:nvSpPr>
        <p:spPr>
          <a:xfrm>
            <a:off x="4754880" y="2312640"/>
            <a:ext cx="4023000" cy="337320"/>
          </a:xfrm>
          <a:prstGeom prst="rect">
            <a:avLst/>
          </a:prstGeom>
          <a:solidFill>
            <a:srgbClr val="f4f6fb"/>
          </a:solidFill>
          <a:ln w="9072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2" name="Num_11"/>
          <p:cNvSpPr/>
          <p:nvPr/>
        </p:nvSpPr>
        <p:spPr>
          <a:xfrm>
            <a:off x="4846320" y="2312640"/>
            <a:ext cx="35964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c9973a"/>
                </a:solidFill>
                <a:effectLst/>
                <a:uFillTx/>
                <a:latin typeface="Calibri"/>
                <a:ea typeface="DejaVu Sans"/>
              </a:rPr>
              <a:t>11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ep_11"/>
          <p:cNvSpPr/>
          <p:nvPr/>
        </p:nvSpPr>
        <p:spPr>
          <a:xfrm>
            <a:off x="5261040" y="2319480"/>
            <a:ext cx="26640" cy="323640"/>
          </a:xfrm>
          <a:prstGeom prst="rect">
            <a:avLst/>
          </a:prstGeom>
          <a:solidFill>
            <a:srgbClr val="7b8b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4" name="Label_11"/>
          <p:cNvSpPr/>
          <p:nvPr/>
        </p:nvSpPr>
        <p:spPr>
          <a:xfrm>
            <a:off x="5334840" y="2312640"/>
            <a:ext cx="339768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000" rIns="45000" tIns="0" bIns="0" anchor="ctr">
            <a:noAutofit/>
          </a:bodyPr>
          <a:p>
            <a:pPr>
              <a:lnSpc>
                <a:spcPct val="100000"/>
              </a:lnSpc>
            </a:pPr>
            <a:r>
              <a:rPr lang="es-ES" sz="120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DejaVu Sans"/>
              </a:rPr>
              <a:t>Problemas y Soluciones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CardBG_12"/>
          <p:cNvSpPr/>
          <p:nvPr/>
        </p:nvSpPr>
        <p:spPr>
          <a:xfrm>
            <a:off x="4754880" y="2671920"/>
            <a:ext cx="4023000" cy="337320"/>
          </a:xfrm>
          <a:prstGeom prst="rect">
            <a:avLst/>
          </a:prstGeom>
          <a:solidFill>
            <a:srgbClr val="f4f6fb"/>
          </a:solidFill>
          <a:ln w="9072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6" name="Num_12"/>
          <p:cNvSpPr/>
          <p:nvPr/>
        </p:nvSpPr>
        <p:spPr>
          <a:xfrm>
            <a:off x="4846320" y="2671920"/>
            <a:ext cx="35964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c9973a"/>
                </a:solidFill>
                <a:effectLst/>
                <a:uFillTx/>
                <a:latin typeface="Calibri"/>
                <a:ea typeface="DejaVu Sans"/>
              </a:rPr>
              <a:t>12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ep_12"/>
          <p:cNvSpPr/>
          <p:nvPr/>
        </p:nvSpPr>
        <p:spPr>
          <a:xfrm>
            <a:off x="5261040" y="2678760"/>
            <a:ext cx="26640" cy="323640"/>
          </a:xfrm>
          <a:prstGeom prst="rect">
            <a:avLst/>
          </a:prstGeom>
          <a:solidFill>
            <a:srgbClr val="7b8b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8" name="Label_12"/>
          <p:cNvSpPr/>
          <p:nvPr/>
        </p:nvSpPr>
        <p:spPr>
          <a:xfrm>
            <a:off x="5334840" y="2671920"/>
            <a:ext cx="339768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000" rIns="45000" tIns="0" bIns="0" anchor="ctr">
            <a:noAutofit/>
          </a:bodyPr>
          <a:p>
            <a:pPr>
              <a:lnSpc>
                <a:spcPct val="100000"/>
              </a:lnSpc>
            </a:pPr>
            <a:r>
              <a:rPr lang="es-ES" sz="120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DejaVu Sans"/>
              </a:rPr>
              <a:t>Conclusión y Mejoras Futuras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FooterBar"/>
          <p:cNvSpPr/>
          <p:nvPr/>
        </p:nvSpPr>
        <p:spPr>
          <a:xfrm>
            <a:off x="0" y="4892040"/>
            <a:ext cx="9143280" cy="250920"/>
          </a:xfrm>
          <a:prstGeom prst="rect">
            <a:avLst/>
          </a:prstGeom>
          <a:solidFill>
            <a:srgbClr val="1a2744"/>
          </a:solidFill>
          <a:ln w="126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0" name="FooterText"/>
          <p:cNvSpPr/>
          <p:nvPr/>
        </p:nvSpPr>
        <p:spPr>
          <a:xfrm>
            <a:off x="274320" y="4892040"/>
            <a:ext cx="6400080" cy="25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aabbdd"/>
                </a:solidFill>
                <a:effectLst/>
                <a:uFillTx/>
                <a:latin typeface="Calibri"/>
                <a:ea typeface="DejaVu Sans"/>
              </a:rPr>
              <a:t>Clon de Agapea · Richard &amp; Tomás · 2026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ageNum"/>
          <p:cNvSpPr/>
          <p:nvPr/>
        </p:nvSpPr>
        <p:spPr>
          <a:xfrm>
            <a:off x="8595360" y="4892040"/>
            <a:ext cx="456480" cy="25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900" b="0" u="none" strike="noStrike">
                <a:solidFill>
                  <a:srgbClr val="aabbdd"/>
                </a:solidFill>
                <a:effectLst/>
                <a:uFillTx/>
                <a:latin typeface="Calibri"/>
                <a:ea typeface="DejaVu Sans"/>
              </a:rPr>
              <a:t>2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0"/>
          <p:cNvSpPr/>
          <p:nvPr/>
        </p:nvSpPr>
        <p:spPr>
          <a:xfrm>
            <a:off x="365760" y="201240"/>
            <a:ext cx="53640" cy="501840"/>
          </a:xfrm>
          <a:prstGeom prst="rect">
            <a:avLst/>
          </a:prstGeom>
          <a:solidFill>
            <a:srgbClr val="c9973a"/>
          </a:solidFill>
          <a:ln w="12600">
            <a:solidFill>
              <a:srgbClr val="c997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3" name="Text 1"/>
          <p:cNvSpPr/>
          <p:nvPr/>
        </p:nvSpPr>
        <p:spPr>
          <a:xfrm>
            <a:off x="502920" y="164520"/>
            <a:ext cx="831996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Descripción del Proyecto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2"/>
          <p:cNvSpPr/>
          <p:nvPr/>
        </p:nvSpPr>
        <p:spPr>
          <a:xfrm>
            <a:off x="365760" y="777240"/>
            <a:ext cx="8412480" cy="360"/>
          </a:xfrm>
          <a:prstGeom prst="line">
            <a:avLst/>
          </a:prstGeom>
          <a:ln w="15120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5" name="Shape 3"/>
          <p:cNvSpPr/>
          <p:nvPr/>
        </p:nvSpPr>
        <p:spPr>
          <a:xfrm>
            <a:off x="0" y="4892040"/>
            <a:ext cx="9142920" cy="250560"/>
          </a:xfrm>
          <a:prstGeom prst="rect">
            <a:avLst/>
          </a:prstGeom>
          <a:solidFill>
            <a:srgbClr val="1a2744"/>
          </a:solidFill>
          <a:ln w="126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6" name="Text 4"/>
          <p:cNvSpPr/>
          <p:nvPr/>
        </p:nvSpPr>
        <p:spPr>
          <a:xfrm>
            <a:off x="274320" y="4892040"/>
            <a:ext cx="6399720" cy="25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abbdd"/>
                </a:solidFill>
                <a:effectLst/>
                <a:uFillTx/>
                <a:latin typeface="Calibri"/>
                <a:ea typeface="Calibri"/>
              </a:rPr>
              <a:t>Clon de Agapea · Richard &amp; Tomás · 2026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5"/>
          <p:cNvSpPr/>
          <p:nvPr/>
        </p:nvSpPr>
        <p:spPr>
          <a:xfrm>
            <a:off x="8595360" y="4892040"/>
            <a:ext cx="456120" cy="25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abbdd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6"/>
          <p:cNvSpPr/>
          <p:nvPr/>
        </p:nvSpPr>
        <p:spPr>
          <a:xfrm>
            <a:off x="365760" y="914400"/>
            <a:ext cx="41137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Motivación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7"/>
          <p:cNvSpPr/>
          <p:nvPr/>
        </p:nvSpPr>
        <p:spPr>
          <a:xfrm>
            <a:off x="365760" y="1261800"/>
            <a:ext cx="4205160" cy="10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744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Clonado funcional de Agapea.com como referencia real de e-commerce de libros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744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Sector librerías independientes con escasa presencia digital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744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Aplicabilidad directa en el mercado laboral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8"/>
          <p:cNvSpPr/>
          <p:nvPr/>
        </p:nvSpPr>
        <p:spPr>
          <a:xfrm>
            <a:off x="365760" y="2423160"/>
            <a:ext cx="41137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Objetivo Principal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9"/>
          <p:cNvSpPr/>
          <p:nvPr/>
        </p:nvSpPr>
        <p:spPr>
          <a:xfrm>
            <a:off x="365760" y="2770560"/>
            <a:ext cx="4205160" cy="95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744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Arquitectura desacoplada: frontend independiente del backend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744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API REST propia con Laravel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744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Interfaz funcional para clientes y administradores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10"/>
          <p:cNvSpPr/>
          <p:nvPr/>
        </p:nvSpPr>
        <p:spPr>
          <a:xfrm>
            <a:off x="4754880" y="914400"/>
            <a:ext cx="26280" cy="2925000"/>
          </a:xfrm>
          <a:prstGeom prst="rect">
            <a:avLst/>
          </a:prstGeom>
          <a:solidFill>
            <a:srgbClr val="e8edf7"/>
          </a:solidFill>
          <a:ln w="12600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3" name="Text 11"/>
          <p:cNvSpPr/>
          <p:nvPr/>
        </p:nvSpPr>
        <p:spPr>
          <a:xfrm>
            <a:off x="4937760" y="914400"/>
            <a:ext cx="383940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Tipos de Usuario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12"/>
          <p:cNvSpPr/>
          <p:nvPr/>
        </p:nvSpPr>
        <p:spPr>
          <a:xfrm>
            <a:off x="4937760" y="1371600"/>
            <a:ext cx="3747960" cy="657360"/>
          </a:xfrm>
          <a:prstGeom prst="roundRect">
            <a:avLst>
              <a:gd name="adj" fmla="val 9722"/>
            </a:avLst>
          </a:prstGeom>
          <a:solidFill>
            <a:srgbClr val="f4f6fb"/>
          </a:solidFill>
          <a:ln w="12600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5" name="Text 13"/>
          <p:cNvSpPr/>
          <p:nvPr/>
        </p:nvSpPr>
        <p:spPr>
          <a:xfrm>
            <a:off x="5074920" y="1371600"/>
            <a:ext cx="36565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👁  Visitante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4"/>
          <p:cNvSpPr/>
          <p:nvPr/>
        </p:nvSpPr>
        <p:spPr>
          <a:xfrm>
            <a:off x="5074920" y="1664280"/>
            <a:ext cx="3656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7b8bb2"/>
                </a:solidFill>
                <a:effectLst/>
                <a:uFillTx/>
                <a:latin typeface="Calibri"/>
                <a:ea typeface="Calibri"/>
              </a:rPr>
              <a:t>Acceso de solo lectura al catálogo público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15"/>
          <p:cNvSpPr/>
          <p:nvPr/>
        </p:nvSpPr>
        <p:spPr>
          <a:xfrm>
            <a:off x="4937760" y="2176200"/>
            <a:ext cx="3747960" cy="657360"/>
          </a:xfrm>
          <a:prstGeom prst="roundRect">
            <a:avLst>
              <a:gd name="adj" fmla="val 9722"/>
            </a:avLst>
          </a:prstGeom>
          <a:solidFill>
            <a:srgbClr val="f4f6fb"/>
          </a:solidFill>
          <a:ln w="12600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8" name="Text 16"/>
          <p:cNvSpPr/>
          <p:nvPr/>
        </p:nvSpPr>
        <p:spPr>
          <a:xfrm>
            <a:off x="5074920" y="2176200"/>
            <a:ext cx="36565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🛒  Cliente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7"/>
          <p:cNvSpPr/>
          <p:nvPr/>
        </p:nvSpPr>
        <p:spPr>
          <a:xfrm>
            <a:off x="5074920" y="2468880"/>
            <a:ext cx="3656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7b8bb2"/>
                </a:solidFill>
                <a:effectLst/>
                <a:uFillTx/>
                <a:latin typeface="Calibri"/>
                <a:ea typeface="Calibri"/>
              </a:rPr>
              <a:t>Carrito, favoritos, reseñas y pedidos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18"/>
          <p:cNvSpPr/>
          <p:nvPr/>
        </p:nvSpPr>
        <p:spPr>
          <a:xfrm>
            <a:off x="4937760" y="2980800"/>
            <a:ext cx="3747960" cy="657360"/>
          </a:xfrm>
          <a:prstGeom prst="roundRect">
            <a:avLst>
              <a:gd name="adj" fmla="val 9722"/>
            </a:avLst>
          </a:prstGeom>
          <a:solidFill>
            <a:srgbClr val="f4f6fb"/>
          </a:solidFill>
          <a:ln w="12600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1" name="Text 19"/>
          <p:cNvSpPr/>
          <p:nvPr/>
        </p:nvSpPr>
        <p:spPr>
          <a:xfrm>
            <a:off x="5074920" y="2980800"/>
            <a:ext cx="36565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⚙️  Administrador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20"/>
          <p:cNvSpPr/>
          <p:nvPr/>
        </p:nvSpPr>
        <p:spPr>
          <a:xfrm>
            <a:off x="5074920" y="3273480"/>
            <a:ext cx="3656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7b8bb2"/>
                </a:solidFill>
                <a:effectLst/>
                <a:uFillTx/>
                <a:latin typeface="Calibri"/>
                <a:ea typeface="Calibri"/>
              </a:rPr>
              <a:t>Panel CRUD: libros, pedidos, usuarios, cupones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ldBar"/>
          <p:cNvSpPr/>
          <p:nvPr/>
        </p:nvSpPr>
        <p:spPr>
          <a:xfrm>
            <a:off x="365760" y="201240"/>
            <a:ext cx="53640" cy="501840"/>
          </a:xfrm>
          <a:prstGeom prst="rect">
            <a:avLst/>
          </a:prstGeom>
          <a:solidFill>
            <a:srgbClr val="c9973a"/>
          </a:solidFill>
          <a:ln w="12600">
            <a:solidFill>
              <a:srgbClr val="c997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4" name="Title"/>
          <p:cNvSpPr/>
          <p:nvPr/>
        </p:nvSpPr>
        <p:spPr>
          <a:xfrm>
            <a:off x="502920" y="164520"/>
            <a:ext cx="831996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s-ES" sz="2600" b="1" u="none" strike="noStrike">
                <a:solidFill>
                  <a:srgbClr val="1a2744"/>
                </a:solidFill>
                <a:effectLst/>
                <a:uFillTx/>
                <a:latin typeface="Calibri"/>
                <a:ea typeface="DejaVu Sans"/>
              </a:rPr>
              <a:t>Requisitos Funcionales y Técnicos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Divider"/>
          <p:cNvSpPr/>
          <p:nvPr/>
        </p:nvSpPr>
        <p:spPr>
          <a:xfrm>
            <a:off x="365760" y="777240"/>
            <a:ext cx="8412480" cy="360"/>
          </a:xfrm>
          <a:prstGeom prst="line">
            <a:avLst/>
          </a:prstGeom>
          <a:ln w="15120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6" name="Subtitle"/>
          <p:cNvSpPr/>
          <p:nvPr/>
        </p:nvSpPr>
        <p:spPr>
          <a:xfrm>
            <a:off x="365760" y="820800"/>
            <a:ext cx="8411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7" name="CardBG0"/>
          <p:cNvSpPr/>
          <p:nvPr/>
        </p:nvSpPr>
        <p:spPr>
          <a:xfrm>
            <a:off x="365760" y="1097280"/>
            <a:ext cx="4022640" cy="560160"/>
          </a:xfrm>
          <a:prstGeom prst="rect">
            <a:avLst/>
          </a:prstGeom>
          <a:solidFill>
            <a:srgbClr val="f4f6fb"/>
          </a:solidFill>
          <a:ln w="9000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8" name="CardText0"/>
          <p:cNvSpPr/>
          <p:nvPr/>
        </p:nvSpPr>
        <p:spPr>
          <a:xfrm>
            <a:off x="502920" y="1097280"/>
            <a:ext cx="2606400" cy="56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000" rIns="45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s-ES" sz="1200" b="1" u="none" strike="noStrike">
                <a:solidFill>
                  <a:srgbClr val="1a2744"/>
                </a:solidFill>
                <a:effectLst/>
                <a:uFillTx/>
                <a:latin typeface="Calibri"/>
                <a:ea typeface="DejaVu Sans"/>
              </a:rPr>
              <a:t>Validación de formularios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1000" b="0" u="none" strike="noStrike">
                <a:solidFill>
                  <a:srgbClr val="7b8bb2"/>
                </a:solidFill>
                <a:effectLst/>
                <a:uFillTx/>
                <a:latin typeface="Calibri"/>
                <a:ea typeface="DejaVu Sans"/>
              </a:rPr>
              <a:t>JS nativo + reglas Laravel en backend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CardBadge0"/>
          <p:cNvSpPr/>
          <p:nvPr/>
        </p:nvSpPr>
        <p:spPr>
          <a:xfrm>
            <a:off x="3201480" y="1240560"/>
            <a:ext cx="1095480" cy="273600"/>
          </a:xfrm>
          <a:prstGeom prst="roundRect">
            <a:avLst>
              <a:gd name="adj" fmla="val 16667"/>
            </a:avLst>
          </a:prstGeom>
          <a:solidFill>
            <a:srgbClr val="1e8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000" rIns="4500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s-E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✓ Implementado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CardBG1"/>
          <p:cNvSpPr/>
          <p:nvPr/>
        </p:nvSpPr>
        <p:spPr>
          <a:xfrm>
            <a:off x="365760" y="1725480"/>
            <a:ext cx="4022640" cy="560160"/>
          </a:xfrm>
          <a:prstGeom prst="rect">
            <a:avLst/>
          </a:prstGeom>
          <a:solidFill>
            <a:srgbClr val="f4f6fb"/>
          </a:solidFill>
          <a:ln w="9000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1" name="CardText1"/>
          <p:cNvSpPr/>
          <p:nvPr/>
        </p:nvSpPr>
        <p:spPr>
          <a:xfrm>
            <a:off x="502920" y="1725480"/>
            <a:ext cx="2606400" cy="56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000" rIns="45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s-ES" sz="1200" b="1" u="none" strike="noStrike">
                <a:solidFill>
                  <a:srgbClr val="1a2744"/>
                </a:solidFill>
                <a:effectLst/>
                <a:uFillTx/>
                <a:latin typeface="Calibri"/>
                <a:ea typeface="DejaVu Sans"/>
              </a:rPr>
              <a:t>Peticiones asíncronas a API (JSON)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1000" b="0" u="none" strike="noStrike">
                <a:solidFill>
                  <a:srgbClr val="7b8bb2"/>
                </a:solidFill>
                <a:effectLst/>
                <a:uFillTx/>
                <a:latin typeface="Calibri"/>
                <a:ea typeface="DejaVu Sans"/>
              </a:rPr>
              <a:t>fetch + async/await → /api/v1/ en JSON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CardBadge1"/>
          <p:cNvSpPr/>
          <p:nvPr/>
        </p:nvSpPr>
        <p:spPr>
          <a:xfrm>
            <a:off x="3201480" y="1868760"/>
            <a:ext cx="1095480" cy="273600"/>
          </a:xfrm>
          <a:prstGeom prst="roundRect">
            <a:avLst>
              <a:gd name="adj" fmla="val 16667"/>
            </a:avLst>
          </a:prstGeom>
          <a:solidFill>
            <a:srgbClr val="1e8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000" rIns="4500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s-E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✓ Implementado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CardBG2"/>
          <p:cNvSpPr/>
          <p:nvPr/>
        </p:nvSpPr>
        <p:spPr>
          <a:xfrm>
            <a:off x="365760" y="2353680"/>
            <a:ext cx="4022640" cy="560160"/>
          </a:xfrm>
          <a:prstGeom prst="rect">
            <a:avLst/>
          </a:prstGeom>
          <a:solidFill>
            <a:srgbClr val="f4f6fb"/>
          </a:solidFill>
          <a:ln w="9000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4" name="CardText2"/>
          <p:cNvSpPr/>
          <p:nvPr/>
        </p:nvSpPr>
        <p:spPr>
          <a:xfrm>
            <a:off x="502920" y="2353680"/>
            <a:ext cx="2606400" cy="56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000" rIns="45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s-ES" sz="1200" b="1" u="none" strike="noStrike">
                <a:solidFill>
                  <a:srgbClr val="1a2744"/>
                </a:solidFill>
                <a:effectLst/>
                <a:uFillTx/>
                <a:latin typeface="Calibri"/>
                <a:ea typeface="DejaVu Sans"/>
              </a:rPr>
              <a:t>Búsqueda y filtrado de datos JSON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1000" b="0" u="none" strike="noStrike">
                <a:solidFill>
                  <a:srgbClr val="7b8bb2"/>
                </a:solidFill>
                <a:effectLst/>
                <a:uFillTx/>
                <a:latin typeface="Calibri"/>
                <a:ea typeface="DejaVu Sans"/>
              </a:rPr>
              <a:t>?search= ?category= ?sort= — lado servidor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CardBadge2"/>
          <p:cNvSpPr/>
          <p:nvPr/>
        </p:nvSpPr>
        <p:spPr>
          <a:xfrm>
            <a:off x="3201480" y="2496960"/>
            <a:ext cx="1095480" cy="273600"/>
          </a:xfrm>
          <a:prstGeom prst="roundRect">
            <a:avLst>
              <a:gd name="adj" fmla="val 16667"/>
            </a:avLst>
          </a:prstGeom>
          <a:solidFill>
            <a:srgbClr val="1e8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000" rIns="4500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s-E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✓ Implementado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CardBG3"/>
          <p:cNvSpPr/>
          <p:nvPr/>
        </p:nvSpPr>
        <p:spPr>
          <a:xfrm>
            <a:off x="365760" y="2981880"/>
            <a:ext cx="4022640" cy="560160"/>
          </a:xfrm>
          <a:prstGeom prst="rect">
            <a:avLst/>
          </a:prstGeom>
          <a:solidFill>
            <a:srgbClr val="f4f6fb"/>
          </a:solidFill>
          <a:ln w="9000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7" name="CardText3"/>
          <p:cNvSpPr/>
          <p:nvPr/>
        </p:nvSpPr>
        <p:spPr>
          <a:xfrm>
            <a:off x="502920" y="2981880"/>
            <a:ext cx="2606400" cy="56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000" rIns="45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s-ES" sz="1200" b="1" u="none" strike="noStrike">
                <a:solidFill>
                  <a:srgbClr val="1a2744"/>
                </a:solidFill>
                <a:effectLst/>
                <a:uFillTx/>
                <a:latin typeface="Calibri"/>
                <a:ea typeface="DejaVu Sans"/>
              </a:rPr>
              <a:t>Paginación de elementos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1000" b="0" u="none" strike="noStrike">
                <a:solidFill>
                  <a:srgbClr val="7b8bb2"/>
                </a:solidFill>
                <a:effectLst/>
                <a:uFillTx/>
                <a:latin typeface="Calibri"/>
                <a:ea typeface="DejaVu Sans"/>
              </a:rPr>
              <a:t>Objeto meta del backend → controles dinámicos JS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CardBadge3"/>
          <p:cNvSpPr/>
          <p:nvPr/>
        </p:nvSpPr>
        <p:spPr>
          <a:xfrm>
            <a:off x="3201480" y="3125160"/>
            <a:ext cx="1095480" cy="273600"/>
          </a:xfrm>
          <a:prstGeom prst="roundRect">
            <a:avLst>
              <a:gd name="adj" fmla="val 16667"/>
            </a:avLst>
          </a:prstGeom>
          <a:solidFill>
            <a:srgbClr val="1e8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000" rIns="4500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s-E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✓ Implementado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CardBG4"/>
          <p:cNvSpPr/>
          <p:nvPr/>
        </p:nvSpPr>
        <p:spPr>
          <a:xfrm>
            <a:off x="365760" y="3610080"/>
            <a:ext cx="4022640" cy="560160"/>
          </a:xfrm>
          <a:prstGeom prst="rect">
            <a:avLst/>
          </a:prstGeom>
          <a:solidFill>
            <a:srgbClr val="f4f6fb"/>
          </a:solidFill>
          <a:ln w="9000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0" name="CardText4"/>
          <p:cNvSpPr/>
          <p:nvPr/>
        </p:nvSpPr>
        <p:spPr>
          <a:xfrm>
            <a:off x="502920" y="3610080"/>
            <a:ext cx="2606400" cy="56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000" rIns="45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s-ES" sz="1200" b="1" u="none" strike="noStrike">
                <a:solidFill>
                  <a:srgbClr val="1a2744"/>
                </a:solidFill>
                <a:effectLst/>
                <a:uFillTx/>
                <a:latin typeface="Calibri"/>
                <a:ea typeface="DejaVu Sans"/>
              </a:rPr>
              <a:t>Persistencia en localStorage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1000" b="0" u="none" strike="noStrike">
                <a:solidFill>
                  <a:srgbClr val="7b8bb2"/>
                </a:solidFill>
                <a:effectLst/>
                <a:uFillTx/>
                <a:latin typeface="Calibri"/>
                <a:ea typeface="DejaVu Sans"/>
              </a:rPr>
              <a:t>Carrito, favoritos, token y usuario en navegador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CardBadge4"/>
          <p:cNvSpPr/>
          <p:nvPr/>
        </p:nvSpPr>
        <p:spPr>
          <a:xfrm>
            <a:off x="3201480" y="3753360"/>
            <a:ext cx="1095480" cy="273600"/>
          </a:xfrm>
          <a:prstGeom prst="roundRect">
            <a:avLst>
              <a:gd name="adj" fmla="val 16667"/>
            </a:avLst>
          </a:prstGeom>
          <a:solidFill>
            <a:srgbClr val="1e8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000" rIns="4500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s-E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✓ Implementado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CardBG5"/>
          <p:cNvSpPr/>
          <p:nvPr/>
        </p:nvSpPr>
        <p:spPr>
          <a:xfrm>
            <a:off x="4754880" y="1097280"/>
            <a:ext cx="4022640" cy="560160"/>
          </a:xfrm>
          <a:prstGeom prst="rect">
            <a:avLst/>
          </a:prstGeom>
          <a:solidFill>
            <a:srgbClr val="f4f6fb"/>
          </a:solidFill>
          <a:ln w="9000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3" name="CardText5"/>
          <p:cNvSpPr/>
          <p:nvPr/>
        </p:nvSpPr>
        <p:spPr>
          <a:xfrm>
            <a:off x="4892040" y="1097280"/>
            <a:ext cx="2606400" cy="56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000" rIns="45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s-ES" sz="1200" b="1" u="none" strike="noStrike">
                <a:solidFill>
                  <a:srgbClr val="1a2744"/>
                </a:solidFill>
                <a:effectLst/>
                <a:uFillTx/>
                <a:latin typeface="Calibri"/>
                <a:ea typeface="DejaVu Sans"/>
              </a:rPr>
              <a:t>Persistencia en base de datos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1000" b="0" u="none" strike="noStrike">
                <a:solidFill>
                  <a:srgbClr val="7b8bb2"/>
                </a:solidFill>
                <a:effectLst/>
                <a:uFillTx/>
                <a:latin typeface="Calibri"/>
                <a:ea typeface="DejaVu Sans"/>
              </a:rPr>
              <a:t>Catálogo, usuarios y pedidos en MySQL/Eloquent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CardBadge5"/>
          <p:cNvSpPr/>
          <p:nvPr/>
        </p:nvSpPr>
        <p:spPr>
          <a:xfrm>
            <a:off x="7590600" y="1240560"/>
            <a:ext cx="1095480" cy="273600"/>
          </a:xfrm>
          <a:prstGeom prst="roundRect">
            <a:avLst>
              <a:gd name="adj" fmla="val 16667"/>
            </a:avLst>
          </a:prstGeom>
          <a:solidFill>
            <a:srgbClr val="1e8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000" rIns="4500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s-E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✓ Implementado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CardBG6"/>
          <p:cNvSpPr/>
          <p:nvPr/>
        </p:nvSpPr>
        <p:spPr>
          <a:xfrm>
            <a:off x="4754880" y="1725480"/>
            <a:ext cx="4022640" cy="560160"/>
          </a:xfrm>
          <a:prstGeom prst="rect">
            <a:avLst/>
          </a:prstGeom>
          <a:solidFill>
            <a:srgbClr val="f4f6fb"/>
          </a:solidFill>
          <a:ln w="9000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6" name="CardText6"/>
          <p:cNvSpPr/>
          <p:nvPr/>
        </p:nvSpPr>
        <p:spPr>
          <a:xfrm>
            <a:off x="4892040" y="1725480"/>
            <a:ext cx="2606400" cy="56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000" rIns="45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s-ES" sz="1200" b="1" u="none" strike="noStrike">
                <a:solidFill>
                  <a:srgbClr val="1a2744"/>
                </a:solidFill>
                <a:effectLst/>
                <a:uFillTx/>
                <a:latin typeface="Calibri"/>
                <a:ea typeface="DejaVu Sans"/>
              </a:rPr>
              <a:t>Front Office (parte pública)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1000" b="0" u="none" strike="noStrike">
                <a:solidFill>
                  <a:srgbClr val="7b8bb2"/>
                </a:solidFill>
                <a:effectLst/>
                <a:uFillTx/>
                <a:latin typeface="Calibri"/>
                <a:ea typeface="DejaVu Sans"/>
              </a:rPr>
              <a:t>MPA: catálogo, carrito, login, favoritos, reseñas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CardBadge6"/>
          <p:cNvSpPr/>
          <p:nvPr/>
        </p:nvSpPr>
        <p:spPr>
          <a:xfrm>
            <a:off x="7590600" y="1868760"/>
            <a:ext cx="1095480" cy="273600"/>
          </a:xfrm>
          <a:prstGeom prst="roundRect">
            <a:avLst>
              <a:gd name="adj" fmla="val 16667"/>
            </a:avLst>
          </a:prstGeom>
          <a:solidFill>
            <a:srgbClr val="1e8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000" rIns="4500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s-E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✓ Implementado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CardBG7"/>
          <p:cNvSpPr/>
          <p:nvPr/>
        </p:nvSpPr>
        <p:spPr>
          <a:xfrm>
            <a:off x="4754880" y="2353680"/>
            <a:ext cx="4022640" cy="560160"/>
          </a:xfrm>
          <a:prstGeom prst="rect">
            <a:avLst/>
          </a:prstGeom>
          <a:solidFill>
            <a:srgbClr val="f4f6fb"/>
          </a:solidFill>
          <a:ln w="9000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9" name="CardText7"/>
          <p:cNvSpPr/>
          <p:nvPr/>
        </p:nvSpPr>
        <p:spPr>
          <a:xfrm>
            <a:off x="4892040" y="2353680"/>
            <a:ext cx="2606400" cy="56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000" rIns="45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s-ES" sz="1200" b="1" u="none" strike="noStrike">
                <a:solidFill>
                  <a:srgbClr val="1a2744"/>
                </a:solidFill>
                <a:effectLst/>
                <a:uFillTx/>
                <a:latin typeface="Calibri"/>
                <a:ea typeface="DejaVu Sans"/>
              </a:rPr>
              <a:t>Back Office (administración)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1000" b="0" u="none" strike="noStrike">
                <a:solidFill>
                  <a:srgbClr val="7b8bb2"/>
                </a:solidFill>
                <a:effectLst/>
                <a:uFillTx/>
                <a:latin typeface="Calibri"/>
                <a:ea typeface="DejaVu Sans"/>
              </a:rPr>
              <a:t>SPA con CRUD completo de todos los recursos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CardBadge7"/>
          <p:cNvSpPr/>
          <p:nvPr/>
        </p:nvSpPr>
        <p:spPr>
          <a:xfrm>
            <a:off x="7590600" y="2496960"/>
            <a:ext cx="1095480" cy="273600"/>
          </a:xfrm>
          <a:prstGeom prst="roundRect">
            <a:avLst>
              <a:gd name="adj" fmla="val 16667"/>
            </a:avLst>
          </a:prstGeom>
          <a:solidFill>
            <a:srgbClr val="1e8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000" rIns="4500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s-E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✓ Implementado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CardBG8"/>
          <p:cNvSpPr/>
          <p:nvPr/>
        </p:nvSpPr>
        <p:spPr>
          <a:xfrm>
            <a:off x="4754880" y="2981880"/>
            <a:ext cx="4022640" cy="560160"/>
          </a:xfrm>
          <a:prstGeom prst="rect">
            <a:avLst/>
          </a:prstGeom>
          <a:solidFill>
            <a:srgbClr val="f4f6fb"/>
          </a:solidFill>
          <a:ln w="9000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2" name="CardText8"/>
          <p:cNvSpPr/>
          <p:nvPr/>
        </p:nvSpPr>
        <p:spPr>
          <a:xfrm>
            <a:off x="4892040" y="2981880"/>
            <a:ext cx="2606400" cy="56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000" rIns="45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s-ES" sz="1200" b="1" u="none" strike="noStrike">
                <a:solidFill>
                  <a:srgbClr val="1a2744"/>
                </a:solidFill>
                <a:effectLst/>
                <a:uFillTx/>
                <a:latin typeface="Calibri"/>
                <a:ea typeface="DejaVu Sans"/>
              </a:rPr>
              <a:t>CRUD completo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1000" b="0" u="none" strike="noStrike">
                <a:solidFill>
                  <a:srgbClr val="7b8bb2"/>
                </a:solidFill>
                <a:effectLst/>
                <a:uFillTx/>
                <a:latin typeface="Calibri"/>
                <a:ea typeface="DejaVu Sans"/>
              </a:rPr>
              <a:t>Crear, leer, actualizar y eliminar en todos los recursos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CardBadge8"/>
          <p:cNvSpPr/>
          <p:nvPr/>
        </p:nvSpPr>
        <p:spPr>
          <a:xfrm>
            <a:off x="7590600" y="3125160"/>
            <a:ext cx="1095480" cy="273600"/>
          </a:xfrm>
          <a:prstGeom prst="roundRect">
            <a:avLst>
              <a:gd name="adj" fmla="val 16667"/>
            </a:avLst>
          </a:prstGeom>
          <a:solidFill>
            <a:srgbClr val="1e8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000" rIns="4500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s-E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✓ Implementado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CardBG9"/>
          <p:cNvSpPr/>
          <p:nvPr/>
        </p:nvSpPr>
        <p:spPr>
          <a:xfrm>
            <a:off x="4754880" y="3610080"/>
            <a:ext cx="4022640" cy="560160"/>
          </a:xfrm>
          <a:prstGeom prst="rect">
            <a:avLst/>
          </a:prstGeom>
          <a:solidFill>
            <a:srgbClr val="f4f6fb"/>
          </a:solidFill>
          <a:ln w="9000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5" name="CardText9"/>
          <p:cNvSpPr/>
          <p:nvPr/>
        </p:nvSpPr>
        <p:spPr>
          <a:xfrm>
            <a:off x="4892040" y="3610080"/>
            <a:ext cx="2606400" cy="56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000" rIns="45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s-ES" sz="1200" b="1" u="none" strike="noStrike">
                <a:solidFill>
                  <a:srgbClr val="1a2744"/>
                </a:solidFill>
                <a:effectLst/>
                <a:uFillTx/>
                <a:latin typeface="Calibri"/>
                <a:ea typeface="DejaVu Sans"/>
              </a:rPr>
              <a:t>Autenticación por token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1000" b="0" u="none" strike="noStrike">
                <a:solidFill>
                  <a:srgbClr val="7b8bb2"/>
                </a:solidFill>
                <a:effectLst/>
                <a:uFillTx/>
                <a:latin typeface="Calibri"/>
                <a:ea typeface="DejaVu Sans"/>
              </a:rPr>
              <a:t>Laravel Sanctum — Bearer Token en localStorage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CardBadge9"/>
          <p:cNvSpPr/>
          <p:nvPr/>
        </p:nvSpPr>
        <p:spPr>
          <a:xfrm>
            <a:off x="7590600" y="3753360"/>
            <a:ext cx="1095480" cy="273600"/>
          </a:xfrm>
          <a:prstGeom prst="roundRect">
            <a:avLst>
              <a:gd name="adj" fmla="val 16667"/>
            </a:avLst>
          </a:prstGeom>
          <a:solidFill>
            <a:srgbClr val="1e8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000" rIns="4500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s-E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✓ Implementado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FooterBar"/>
          <p:cNvSpPr/>
          <p:nvPr/>
        </p:nvSpPr>
        <p:spPr>
          <a:xfrm>
            <a:off x="0" y="4892040"/>
            <a:ext cx="9142920" cy="250560"/>
          </a:xfrm>
          <a:prstGeom prst="rect">
            <a:avLst/>
          </a:prstGeom>
          <a:solidFill>
            <a:srgbClr val="1a2744"/>
          </a:solidFill>
          <a:ln w="126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8" name="FooterText"/>
          <p:cNvSpPr/>
          <p:nvPr/>
        </p:nvSpPr>
        <p:spPr>
          <a:xfrm>
            <a:off x="274320" y="4892040"/>
            <a:ext cx="6399720" cy="25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aabbdd"/>
                </a:solidFill>
                <a:effectLst/>
                <a:uFillTx/>
                <a:latin typeface="Calibri"/>
                <a:ea typeface="DejaVu Sans"/>
              </a:rPr>
              <a:t>Clon de Agapea · Richard &amp; Tomás · 2026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PageNum"/>
          <p:cNvSpPr/>
          <p:nvPr/>
        </p:nvSpPr>
        <p:spPr>
          <a:xfrm>
            <a:off x="8595720" y="4892040"/>
            <a:ext cx="456120" cy="25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900" b="0" u="none" strike="noStrike">
                <a:solidFill>
                  <a:srgbClr val="aabbdd"/>
                </a:solidFill>
                <a:effectLst/>
                <a:uFillTx/>
                <a:latin typeface="Calibri"/>
                <a:ea typeface="DejaVu Sans"/>
              </a:rPr>
              <a:t>4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0"/>
          <p:cNvSpPr/>
          <p:nvPr/>
        </p:nvSpPr>
        <p:spPr>
          <a:xfrm>
            <a:off x="365760" y="201240"/>
            <a:ext cx="53640" cy="501840"/>
          </a:xfrm>
          <a:prstGeom prst="rect">
            <a:avLst/>
          </a:prstGeom>
          <a:solidFill>
            <a:srgbClr val="c9973a"/>
          </a:solidFill>
          <a:ln w="12600">
            <a:solidFill>
              <a:srgbClr val="c997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1" name="Text 1"/>
          <p:cNvSpPr/>
          <p:nvPr/>
        </p:nvSpPr>
        <p:spPr>
          <a:xfrm>
            <a:off x="502920" y="164520"/>
            <a:ext cx="831996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Arquitectura del Sistema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2"/>
          <p:cNvSpPr/>
          <p:nvPr/>
        </p:nvSpPr>
        <p:spPr>
          <a:xfrm>
            <a:off x="365760" y="777240"/>
            <a:ext cx="8412480" cy="360"/>
          </a:xfrm>
          <a:prstGeom prst="line">
            <a:avLst/>
          </a:prstGeom>
          <a:ln w="15120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3" name="Shape 3"/>
          <p:cNvSpPr/>
          <p:nvPr/>
        </p:nvSpPr>
        <p:spPr>
          <a:xfrm>
            <a:off x="0" y="4892040"/>
            <a:ext cx="9142920" cy="250560"/>
          </a:xfrm>
          <a:prstGeom prst="rect">
            <a:avLst/>
          </a:prstGeom>
          <a:solidFill>
            <a:srgbClr val="1a2744"/>
          </a:solidFill>
          <a:ln w="126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4" name="Text 4"/>
          <p:cNvSpPr/>
          <p:nvPr/>
        </p:nvSpPr>
        <p:spPr>
          <a:xfrm>
            <a:off x="274320" y="4892040"/>
            <a:ext cx="6399720" cy="25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abbdd"/>
                </a:solidFill>
                <a:effectLst/>
                <a:uFillTx/>
                <a:latin typeface="Calibri"/>
                <a:ea typeface="Calibri"/>
              </a:rPr>
              <a:t>Clon de Agapea · Richard &amp; Tomás · 2026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5"/>
          <p:cNvSpPr/>
          <p:nvPr/>
        </p:nvSpPr>
        <p:spPr>
          <a:xfrm>
            <a:off x="8595360" y="4892040"/>
            <a:ext cx="456120" cy="25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abbdd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6"/>
          <p:cNvSpPr/>
          <p:nvPr/>
        </p:nvSpPr>
        <p:spPr>
          <a:xfrm>
            <a:off x="5040000" y="758520"/>
            <a:ext cx="37479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Arquitectura Headless (Desacoplada)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7"/>
          <p:cNvSpPr/>
          <p:nvPr/>
        </p:nvSpPr>
        <p:spPr>
          <a:xfrm>
            <a:off x="5029200" y="1298520"/>
            <a:ext cx="3747960" cy="12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744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Frontend y backend son proyectos independientes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744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Comunicación exclusiva por HTTP + JSON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744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Backend patrón MVC (Laravel): la vista es JSON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744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Token Bearer gestionado por Laravel Sanctum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8" name="Table 0"/>
          <p:cNvGraphicFramePr/>
          <p:nvPr/>
        </p:nvGraphicFramePr>
        <p:xfrm>
          <a:off x="4949640" y="2900520"/>
          <a:ext cx="3840120" cy="1371600"/>
        </p:xfrm>
        <a:graphic>
          <a:graphicData uri="http://schemas.openxmlformats.org/drawingml/2006/table">
            <a:tbl>
              <a:tblPr/>
              <a:tblGrid>
                <a:gridCol w="1005840"/>
                <a:gridCol w="1417320"/>
                <a:gridCol w="1417320"/>
              </a:tblGrid>
              <a:tr h="2775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lang="en-US" sz="12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  <a:ea typeface="Calibri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e8edf7"/>
                      </a:solidFill>
                      <a:prstDash val="solid"/>
                    </a:lnL>
                    <a:lnR w="10080">
                      <a:solidFill>
                        <a:srgbClr val="e8edf7"/>
                      </a:solidFill>
                      <a:prstDash val="solid"/>
                    </a:lnR>
                    <a:lnT w="10080">
                      <a:solidFill>
                        <a:srgbClr val="e8edf7"/>
                      </a:solidFill>
                      <a:prstDash val="solid"/>
                    </a:lnT>
                    <a:lnB w="10080">
                      <a:solidFill>
                        <a:srgbClr val="e8edf7"/>
                      </a:solidFill>
                      <a:prstDash val="soli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Front Office</a:t>
                      </a:r>
                      <a:endParaRPr lang="es-E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e8edf7"/>
                      </a:solidFill>
                      <a:prstDash val="solid"/>
                    </a:lnL>
                    <a:lnR w="10080">
                      <a:solidFill>
                        <a:srgbClr val="e8edf7"/>
                      </a:solidFill>
                      <a:prstDash val="solid"/>
                    </a:lnR>
                    <a:lnT w="10080">
                      <a:solidFill>
                        <a:srgbClr val="e8edf7"/>
                      </a:solidFill>
                      <a:prstDash val="solid"/>
                    </a:lnT>
                    <a:lnB w="10080">
                      <a:solidFill>
                        <a:srgbClr val="e8edf7"/>
                      </a:solidFill>
                      <a:prstDash val="soli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Back Office</a:t>
                      </a:r>
                      <a:endParaRPr lang="es-E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e8edf7"/>
                      </a:solidFill>
                      <a:prstDash val="solid"/>
                    </a:lnL>
                    <a:lnR w="10080">
                      <a:solidFill>
                        <a:srgbClr val="e8edf7"/>
                      </a:solidFill>
                      <a:prstDash val="solid"/>
                    </a:lnR>
                    <a:lnT w="10080">
                      <a:solidFill>
                        <a:srgbClr val="e8edf7"/>
                      </a:solidFill>
                      <a:prstDash val="solid"/>
                    </a:lnT>
                    <a:lnB w="10080">
                      <a:solidFill>
                        <a:srgbClr val="e8edf7"/>
                      </a:solidFill>
                      <a:prstDash val="solid"/>
                    </a:lnB>
                    <a:solidFill>
                      <a:srgbClr val="1a2744"/>
                    </a:solidFill>
                  </a:tcPr>
                </a:tc>
              </a:tr>
              <a:tr h="2736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Tipo</a:t>
                      </a:r>
                      <a:endParaRPr lang="es-E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e8edf7"/>
                      </a:solidFill>
                      <a:prstDash val="solid"/>
                    </a:lnL>
                    <a:lnR w="10080">
                      <a:solidFill>
                        <a:srgbClr val="e8edf7"/>
                      </a:solidFill>
                      <a:prstDash val="solid"/>
                    </a:lnR>
                    <a:lnT w="10080">
                      <a:solidFill>
                        <a:srgbClr val="e8edf7"/>
                      </a:solidFill>
                      <a:prstDash val="solid"/>
                    </a:lnT>
                    <a:lnB w="10080">
                      <a:solidFill>
                        <a:srgbClr val="e8ed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MPA</a:t>
                      </a:r>
                      <a:endParaRPr lang="es-E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e8edf7"/>
                      </a:solidFill>
                      <a:prstDash val="solid"/>
                    </a:lnL>
                    <a:lnR w="10080">
                      <a:solidFill>
                        <a:srgbClr val="e8edf7"/>
                      </a:solidFill>
                      <a:prstDash val="solid"/>
                    </a:lnR>
                    <a:lnT w="10080">
                      <a:solidFill>
                        <a:srgbClr val="e8edf7"/>
                      </a:solidFill>
                      <a:prstDash val="solid"/>
                    </a:lnT>
                    <a:lnB w="10080">
                      <a:solidFill>
                        <a:srgbClr val="e8ed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SPA</a:t>
                      </a:r>
                      <a:endParaRPr lang="es-E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e8edf7"/>
                      </a:solidFill>
                      <a:prstDash val="solid"/>
                    </a:lnL>
                    <a:lnR w="10080">
                      <a:solidFill>
                        <a:srgbClr val="e8edf7"/>
                      </a:solidFill>
                      <a:prstDash val="solid"/>
                    </a:lnR>
                    <a:lnT w="10080">
                      <a:solidFill>
                        <a:srgbClr val="e8edf7"/>
                      </a:solidFill>
                      <a:prstDash val="solid"/>
                    </a:lnT>
                    <a:lnB w="10080">
                      <a:solidFill>
                        <a:srgbClr val="e8ed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36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Carpeta</a:t>
                      </a:r>
                      <a:endParaRPr lang="es-E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e8edf7"/>
                      </a:solidFill>
                      <a:prstDash val="solid"/>
                    </a:lnL>
                    <a:lnR w="10080">
                      <a:solidFill>
                        <a:srgbClr val="e8edf7"/>
                      </a:solidFill>
                      <a:prstDash val="solid"/>
                    </a:lnR>
                    <a:lnT w="10080">
                      <a:solidFill>
                        <a:srgbClr val="e8edf7"/>
                      </a:solidFill>
                      <a:prstDash val="solid"/>
                    </a:lnT>
                    <a:lnB w="10080">
                      <a:solidFill>
                        <a:srgbClr val="e8ed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agapea-frontend/</a:t>
                      </a:r>
                      <a:endParaRPr lang="es-E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e8edf7"/>
                      </a:solidFill>
                      <a:prstDash val="solid"/>
                    </a:lnL>
                    <a:lnR w="10080">
                      <a:solidFill>
                        <a:srgbClr val="e8edf7"/>
                      </a:solidFill>
                      <a:prstDash val="solid"/>
                    </a:lnR>
                    <a:lnT w="10080">
                      <a:solidFill>
                        <a:srgbClr val="e8edf7"/>
                      </a:solidFill>
                      <a:prstDash val="solid"/>
                    </a:lnT>
                    <a:lnB w="10080">
                      <a:solidFill>
                        <a:srgbClr val="e8ed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adm-agapea/</a:t>
                      </a:r>
                      <a:endParaRPr lang="es-E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e8edf7"/>
                      </a:solidFill>
                      <a:prstDash val="solid"/>
                    </a:lnL>
                    <a:lnR w="10080">
                      <a:solidFill>
                        <a:srgbClr val="e8edf7"/>
                      </a:solidFill>
                      <a:prstDash val="solid"/>
                    </a:lnR>
                    <a:lnT w="10080">
                      <a:solidFill>
                        <a:srgbClr val="e8edf7"/>
                      </a:solidFill>
                      <a:prstDash val="solid"/>
                    </a:lnT>
                    <a:lnB w="10080">
                      <a:solidFill>
                        <a:srgbClr val="e8ed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36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Stack</a:t>
                      </a:r>
                      <a:endParaRPr lang="es-E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e8edf7"/>
                      </a:solidFill>
                      <a:prstDash val="solid"/>
                    </a:lnL>
                    <a:lnR w="10080">
                      <a:solidFill>
                        <a:srgbClr val="e8edf7"/>
                      </a:solidFill>
                      <a:prstDash val="solid"/>
                    </a:lnR>
                    <a:lnT w="10080">
                      <a:solidFill>
                        <a:srgbClr val="e8edf7"/>
                      </a:solidFill>
                      <a:prstDash val="solid"/>
                    </a:lnT>
                    <a:lnB w="10080">
                      <a:solidFill>
                        <a:srgbClr val="e8ed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Vanilla JS · HTML</a:t>
                      </a:r>
                      <a:endParaRPr lang="es-E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e8edf7"/>
                      </a:solidFill>
                      <a:prstDash val="solid"/>
                    </a:lnL>
                    <a:lnR w="10080">
                      <a:solidFill>
                        <a:srgbClr val="e8edf7"/>
                      </a:solidFill>
                      <a:prstDash val="solid"/>
                    </a:lnR>
                    <a:lnT w="10080">
                      <a:solidFill>
                        <a:srgbClr val="e8edf7"/>
                      </a:solidFill>
                      <a:prstDash val="solid"/>
                    </a:lnT>
                    <a:lnB w="10080">
                      <a:solidFill>
                        <a:srgbClr val="e8ed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Vanilla JS · Router JS</a:t>
                      </a:r>
                      <a:endParaRPr lang="es-E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e8edf7"/>
                      </a:solidFill>
                      <a:prstDash val="solid"/>
                    </a:lnL>
                    <a:lnR w="10080">
                      <a:solidFill>
                        <a:srgbClr val="e8edf7"/>
                      </a:solidFill>
                      <a:prstDash val="solid"/>
                    </a:lnR>
                    <a:lnT w="10080">
                      <a:solidFill>
                        <a:srgbClr val="e8edf7"/>
                      </a:solidFill>
                      <a:prstDash val="solid"/>
                    </a:lnT>
                    <a:lnB w="10080">
                      <a:solidFill>
                        <a:srgbClr val="e8ed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32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Usuarios</a:t>
                      </a:r>
                      <a:endParaRPr lang="es-E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e8edf7"/>
                      </a:solidFill>
                      <a:prstDash val="solid"/>
                    </a:lnL>
                    <a:lnR w="10080">
                      <a:solidFill>
                        <a:srgbClr val="e8edf7"/>
                      </a:solidFill>
                      <a:prstDash val="solid"/>
                    </a:lnR>
                    <a:lnT w="10080">
                      <a:solidFill>
                        <a:srgbClr val="e8edf7"/>
                      </a:solidFill>
                      <a:prstDash val="solid"/>
                    </a:lnT>
                    <a:lnB w="10080">
                      <a:solidFill>
                        <a:srgbClr val="e8ed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Clientes / Visitantes</a:t>
                      </a:r>
                      <a:endParaRPr lang="es-E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e8edf7"/>
                      </a:solidFill>
                      <a:prstDash val="solid"/>
                    </a:lnL>
                    <a:lnR w="10080">
                      <a:solidFill>
                        <a:srgbClr val="e8edf7"/>
                      </a:solidFill>
                      <a:prstDash val="solid"/>
                    </a:lnR>
                    <a:lnT w="10080">
                      <a:solidFill>
                        <a:srgbClr val="e8edf7"/>
                      </a:solidFill>
                      <a:prstDash val="solid"/>
                    </a:lnT>
                    <a:lnB w="10080">
                      <a:solidFill>
                        <a:srgbClr val="e8ed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Administradores</a:t>
                      </a:r>
                      <a:endParaRPr lang="es-E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e8edf7"/>
                      </a:solidFill>
                      <a:prstDash val="solid"/>
                    </a:lnL>
                    <a:lnR w="10080">
                      <a:solidFill>
                        <a:srgbClr val="e8edf7"/>
                      </a:solidFill>
                      <a:prstDash val="solid"/>
                    </a:lnR>
                    <a:lnT w="10080">
                      <a:solidFill>
                        <a:srgbClr val="e8edf7"/>
                      </a:solidFill>
                      <a:prstDash val="solid"/>
                    </a:lnT>
                    <a:lnB w="10080">
                      <a:solidFill>
                        <a:srgbClr val="e8ed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49" name=""/>
          <p:cNvPicPr/>
          <p:nvPr/>
        </p:nvPicPr>
        <p:blipFill>
          <a:blip r:embed="rId1"/>
          <a:stretch/>
        </p:blipFill>
        <p:spPr>
          <a:xfrm>
            <a:off x="360000" y="1066680"/>
            <a:ext cx="4320000" cy="325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ldBar"/>
          <p:cNvSpPr/>
          <p:nvPr/>
        </p:nvSpPr>
        <p:spPr>
          <a:xfrm>
            <a:off x="365760" y="201240"/>
            <a:ext cx="53640" cy="501840"/>
          </a:xfrm>
          <a:prstGeom prst="rect">
            <a:avLst/>
          </a:prstGeom>
          <a:solidFill>
            <a:srgbClr val="c9973a"/>
          </a:solidFill>
          <a:ln w="12600">
            <a:solidFill>
              <a:srgbClr val="c997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1" name="Title"/>
          <p:cNvSpPr/>
          <p:nvPr/>
        </p:nvSpPr>
        <p:spPr>
          <a:xfrm>
            <a:off x="502920" y="164520"/>
            <a:ext cx="831996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s-ES" sz="2600" b="1" u="none" strike="noStrike">
                <a:solidFill>
                  <a:srgbClr val="1a2744"/>
                </a:solidFill>
                <a:effectLst/>
                <a:uFillTx/>
                <a:latin typeface="Calibri"/>
                <a:ea typeface="DejaVu Sans"/>
              </a:rPr>
              <a:t>Stack Tecnológico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Divider"/>
          <p:cNvSpPr/>
          <p:nvPr/>
        </p:nvSpPr>
        <p:spPr>
          <a:xfrm>
            <a:off x="365760" y="777240"/>
            <a:ext cx="8412480" cy="360"/>
          </a:xfrm>
          <a:prstGeom prst="line">
            <a:avLst/>
          </a:prstGeom>
          <a:ln w="15120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3" name="SecHdr"/>
          <p:cNvSpPr/>
          <p:nvPr/>
        </p:nvSpPr>
        <p:spPr>
          <a:xfrm>
            <a:off x="365760" y="868680"/>
            <a:ext cx="4022640" cy="31896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0960" rIns="90000" tIns="0" bIns="0" anchor="ctr">
            <a:noAutofit/>
          </a:bodyPr>
          <a:p>
            <a:pPr>
              <a:lnSpc>
                <a:spcPct val="100000"/>
              </a:lnSpc>
            </a:pPr>
            <a:r>
              <a:rPr lang="es-E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Frontend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SecHdr"/>
          <p:cNvSpPr/>
          <p:nvPr/>
        </p:nvSpPr>
        <p:spPr>
          <a:xfrm>
            <a:off x="4754880" y="868680"/>
            <a:ext cx="4022640" cy="318960"/>
          </a:xfrm>
          <a:prstGeom prst="rect">
            <a:avLst/>
          </a:prstGeom>
          <a:solidFill>
            <a:srgbClr val="1a4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0960" rIns="90000" tIns="0" bIns="0" anchor="ctr">
            <a:noAutofit/>
          </a:bodyPr>
          <a:p>
            <a:pPr>
              <a:lnSpc>
                <a:spcPct val="100000"/>
              </a:lnSpc>
            </a:pPr>
            <a:r>
              <a:rPr lang="es-E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Backend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CardBG"/>
          <p:cNvSpPr/>
          <p:nvPr/>
        </p:nvSpPr>
        <p:spPr>
          <a:xfrm>
            <a:off x="365760" y="1243800"/>
            <a:ext cx="4022640" cy="548280"/>
          </a:xfrm>
          <a:prstGeom prst="rect">
            <a:avLst/>
          </a:prstGeom>
          <a:solidFill>
            <a:srgbClr val="f4f6fb"/>
          </a:solidFill>
          <a:ln w="9000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6" name="CardTxt"/>
          <p:cNvSpPr/>
          <p:nvPr/>
        </p:nvSpPr>
        <p:spPr>
          <a:xfrm>
            <a:off x="457200" y="1243800"/>
            <a:ext cx="3931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000" rIns="45000" tIns="50040" bIns="29880" anchor="t">
            <a:noAutofit/>
          </a:bodyPr>
          <a:p>
            <a:pPr>
              <a:lnSpc>
                <a:spcPct val="100000"/>
              </a:lnSpc>
            </a:pPr>
            <a:r>
              <a:rPr lang="es-ES" sz="1200" b="1" u="none" strike="noStrike">
                <a:solidFill>
                  <a:srgbClr val="1a2744"/>
                </a:solidFill>
                <a:effectLst/>
                <a:uFillTx/>
                <a:latin typeface="Calibri"/>
                <a:ea typeface="DejaVu Sans"/>
              </a:rPr>
              <a:t>HTML5 + CSS3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980" b="0" u="none" strike="noStrike">
                <a:solidFill>
                  <a:srgbClr val="2857a7"/>
                </a:solidFill>
                <a:effectLst/>
                <a:uFillTx/>
                <a:latin typeface="Calibri"/>
                <a:ea typeface="DejaVu Sans"/>
              </a:rPr>
              <a:t>Estructura y estilos — </a:t>
            </a:r>
            <a:r>
              <a:rPr lang="es-ES" sz="980" b="0" u="none" strike="noStrike">
                <a:solidFill>
                  <a:srgbClr val="7b8bb2"/>
                </a:solidFill>
                <a:effectLst/>
                <a:uFillTx/>
                <a:latin typeface="Calibri"/>
                <a:ea typeface="DejaVu Sans"/>
              </a:rPr>
              <a:t>Control total sin dependencias externas</a:t>
            </a:r>
            <a:endParaRPr lang="es-E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CardBG"/>
          <p:cNvSpPr/>
          <p:nvPr/>
        </p:nvSpPr>
        <p:spPr>
          <a:xfrm>
            <a:off x="365760" y="1839600"/>
            <a:ext cx="4022640" cy="548280"/>
          </a:xfrm>
          <a:prstGeom prst="rect">
            <a:avLst/>
          </a:prstGeom>
          <a:solidFill>
            <a:srgbClr val="f4f6fb"/>
          </a:solidFill>
          <a:ln w="9000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8" name="CardTxt"/>
          <p:cNvSpPr/>
          <p:nvPr/>
        </p:nvSpPr>
        <p:spPr>
          <a:xfrm>
            <a:off x="457200" y="1839600"/>
            <a:ext cx="3931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000" rIns="45000" tIns="50040" bIns="29880" anchor="t">
            <a:noAutofit/>
          </a:bodyPr>
          <a:p>
            <a:pPr>
              <a:lnSpc>
                <a:spcPct val="100000"/>
              </a:lnSpc>
            </a:pPr>
            <a:r>
              <a:rPr lang="es-ES" sz="1200" b="1" u="none" strike="noStrike">
                <a:solidFill>
                  <a:srgbClr val="1a2744"/>
                </a:solidFill>
                <a:effectLst/>
                <a:uFillTx/>
                <a:latin typeface="Calibri"/>
                <a:ea typeface="DejaVu Sans"/>
              </a:rPr>
              <a:t>JavaScript Vanilla ES6+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980" b="0" u="none" strike="noStrike">
                <a:solidFill>
                  <a:srgbClr val="2857a7"/>
                </a:solidFill>
                <a:effectLst/>
                <a:uFillTx/>
                <a:latin typeface="Calibri"/>
                <a:ea typeface="DejaVu Sans"/>
              </a:rPr>
              <a:t>Lógica de interfaz — </a:t>
            </a:r>
            <a:r>
              <a:rPr lang="es-ES" sz="980" b="0" u="none" strike="noStrike">
                <a:solidFill>
                  <a:srgbClr val="7b8bb2"/>
                </a:solidFill>
                <a:effectLst/>
                <a:uFillTx/>
                <a:latin typeface="Calibri"/>
                <a:ea typeface="DejaVu Sans"/>
              </a:rPr>
              <a:t>Módulos, fetch, async/await, DOM — sin framework</a:t>
            </a:r>
            <a:endParaRPr lang="es-E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CardBG"/>
          <p:cNvSpPr/>
          <p:nvPr/>
        </p:nvSpPr>
        <p:spPr>
          <a:xfrm>
            <a:off x="365760" y="2435400"/>
            <a:ext cx="4022640" cy="548280"/>
          </a:xfrm>
          <a:prstGeom prst="rect">
            <a:avLst/>
          </a:prstGeom>
          <a:solidFill>
            <a:srgbClr val="f4f6fb"/>
          </a:solidFill>
          <a:ln w="9000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0" name="CardTxt"/>
          <p:cNvSpPr/>
          <p:nvPr/>
        </p:nvSpPr>
        <p:spPr>
          <a:xfrm>
            <a:off x="457200" y="2435400"/>
            <a:ext cx="3931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000" rIns="45000" tIns="50040" bIns="29880" anchor="t">
            <a:noAutofit/>
          </a:bodyPr>
          <a:p>
            <a:pPr>
              <a:lnSpc>
                <a:spcPct val="100000"/>
              </a:lnSpc>
            </a:pPr>
            <a:r>
              <a:rPr lang="es-ES" sz="1200" b="1" u="none" strike="noStrike">
                <a:solidFill>
                  <a:srgbClr val="1a2744"/>
                </a:solidFill>
                <a:effectLst/>
                <a:uFillTx/>
                <a:latin typeface="Calibri"/>
                <a:ea typeface="DejaVu Sans"/>
              </a:rPr>
              <a:t>Chart.js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980" b="0" u="none" strike="noStrike">
                <a:solidFill>
                  <a:srgbClr val="2857a7"/>
                </a:solidFill>
                <a:effectLst/>
                <a:uFillTx/>
                <a:latin typeface="Calibri"/>
                <a:ea typeface="DejaVu Sans"/>
              </a:rPr>
              <a:t>Visualización de datos — </a:t>
            </a:r>
            <a:r>
              <a:rPr lang="es-ES" sz="980" b="0" u="none" strike="noStrike">
                <a:solidFill>
                  <a:srgbClr val="7b8bb2"/>
                </a:solidFill>
                <a:effectLst/>
                <a:uFillTx/>
                <a:latin typeface="Calibri"/>
                <a:ea typeface="DejaVu Sans"/>
              </a:rPr>
              <a:t>Librería ligera integrada vía CDN</a:t>
            </a:r>
            <a:endParaRPr lang="es-E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CardBG"/>
          <p:cNvSpPr/>
          <p:nvPr/>
        </p:nvSpPr>
        <p:spPr>
          <a:xfrm>
            <a:off x="365760" y="3031200"/>
            <a:ext cx="4022640" cy="548280"/>
          </a:xfrm>
          <a:prstGeom prst="rect">
            <a:avLst/>
          </a:prstGeom>
          <a:solidFill>
            <a:srgbClr val="f4f6fb"/>
          </a:solidFill>
          <a:ln w="9000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2" name="CardTxt"/>
          <p:cNvSpPr/>
          <p:nvPr/>
        </p:nvSpPr>
        <p:spPr>
          <a:xfrm>
            <a:off x="457200" y="3031200"/>
            <a:ext cx="3931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000" rIns="45000" tIns="50040" bIns="29880" anchor="t">
            <a:noAutofit/>
          </a:bodyPr>
          <a:p>
            <a:pPr>
              <a:lnSpc>
                <a:spcPct val="100000"/>
              </a:lnSpc>
            </a:pPr>
            <a:r>
              <a:rPr lang="es-ES" sz="1200" b="1" u="none" strike="noStrike">
                <a:solidFill>
                  <a:srgbClr val="1a2744"/>
                </a:solidFill>
                <a:effectLst/>
                <a:uFillTx/>
                <a:latin typeface="Calibri"/>
                <a:ea typeface="DejaVu Sans"/>
              </a:rPr>
              <a:t>SweetAlert2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980" b="0" u="none" strike="noStrike">
                <a:solidFill>
                  <a:srgbClr val="2857a7"/>
                </a:solidFill>
                <a:effectLst/>
                <a:uFillTx/>
                <a:latin typeface="Calibri"/>
                <a:ea typeface="DejaVu Sans"/>
              </a:rPr>
              <a:t>Alertas y confirmaciones — </a:t>
            </a:r>
            <a:r>
              <a:rPr lang="es-ES" sz="980" b="0" u="none" strike="noStrike">
                <a:solidFill>
                  <a:srgbClr val="7b8bb2"/>
                </a:solidFill>
                <a:effectLst/>
                <a:uFillTx/>
                <a:latin typeface="Calibri"/>
                <a:ea typeface="DejaVu Sans"/>
              </a:rPr>
              <a:t>Reemplaza diálogos nativos por modales estilizados</a:t>
            </a:r>
            <a:endParaRPr lang="es-E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CardBG"/>
          <p:cNvSpPr/>
          <p:nvPr/>
        </p:nvSpPr>
        <p:spPr>
          <a:xfrm>
            <a:off x="365760" y="3627000"/>
            <a:ext cx="4022640" cy="548280"/>
          </a:xfrm>
          <a:prstGeom prst="rect">
            <a:avLst/>
          </a:prstGeom>
          <a:solidFill>
            <a:srgbClr val="f4f6fb"/>
          </a:solidFill>
          <a:ln w="9000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4" name="CardTxt"/>
          <p:cNvSpPr/>
          <p:nvPr/>
        </p:nvSpPr>
        <p:spPr>
          <a:xfrm>
            <a:off x="457200" y="3627000"/>
            <a:ext cx="3931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000" rIns="45000" tIns="50040" bIns="29880" anchor="t">
            <a:noAutofit/>
          </a:bodyPr>
          <a:p>
            <a:pPr>
              <a:lnSpc>
                <a:spcPct val="100000"/>
              </a:lnSpc>
            </a:pPr>
            <a:r>
              <a:rPr lang="es-ES" sz="1200" b="1" u="none" strike="noStrike">
                <a:solidFill>
                  <a:srgbClr val="1a2744"/>
                </a:solidFill>
                <a:effectLst/>
                <a:uFillTx/>
                <a:latin typeface="Calibri"/>
                <a:ea typeface="DejaVu Sans"/>
              </a:rPr>
              <a:t>FontAwesome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980" b="0" u="none" strike="noStrike">
                <a:solidFill>
                  <a:srgbClr val="2857a7"/>
                </a:solidFill>
                <a:effectLst/>
                <a:uFillTx/>
                <a:latin typeface="Calibri"/>
                <a:ea typeface="DejaVu Sans"/>
              </a:rPr>
              <a:t>Iconografía — </a:t>
            </a:r>
            <a:r>
              <a:rPr lang="es-ES" sz="980" b="0" u="none" strike="noStrike">
                <a:solidFill>
                  <a:srgbClr val="7b8bb2"/>
                </a:solidFill>
                <a:effectLst/>
                <a:uFillTx/>
                <a:latin typeface="Calibri"/>
                <a:ea typeface="DejaVu Sans"/>
              </a:rPr>
              <a:t>Iconos vectoriales vía CDN, sin configuración</a:t>
            </a:r>
            <a:endParaRPr lang="es-E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CardBG"/>
          <p:cNvSpPr/>
          <p:nvPr/>
        </p:nvSpPr>
        <p:spPr>
          <a:xfrm>
            <a:off x="365760" y="4222800"/>
            <a:ext cx="4022640" cy="548280"/>
          </a:xfrm>
          <a:prstGeom prst="rect">
            <a:avLst/>
          </a:prstGeom>
          <a:solidFill>
            <a:srgbClr val="f4f6fb"/>
          </a:solidFill>
          <a:ln w="9000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	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CardTxt"/>
          <p:cNvSpPr/>
          <p:nvPr/>
        </p:nvSpPr>
        <p:spPr>
          <a:xfrm>
            <a:off x="457200" y="4222800"/>
            <a:ext cx="3931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000" rIns="45000" tIns="50040" bIns="29880" anchor="t">
            <a:noAutofit/>
          </a:bodyPr>
          <a:p>
            <a:pPr>
              <a:lnSpc>
                <a:spcPct val="100000"/>
              </a:lnSpc>
            </a:pPr>
            <a:r>
              <a:rPr lang="es-ES" sz="1200" b="1" u="none" strike="noStrike">
                <a:solidFill>
                  <a:srgbClr val="1a2744"/>
                </a:solidFill>
                <a:effectLst/>
                <a:uFillTx/>
                <a:latin typeface="Calibri"/>
                <a:ea typeface="DejaVu Sans"/>
              </a:rPr>
              <a:t>Visual Studio Code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980" b="0" u="none" strike="noStrike">
                <a:solidFill>
                  <a:srgbClr val="2857a7"/>
                </a:solidFill>
                <a:effectLst/>
                <a:uFillTx/>
                <a:latin typeface="Calibri"/>
                <a:ea typeface="DejaVu Sans"/>
              </a:rPr>
              <a:t>Editor + servidor dev — </a:t>
            </a:r>
            <a:r>
              <a:rPr lang="es-ES" sz="980" b="0" u="none" strike="noStrike">
                <a:solidFill>
                  <a:srgbClr val="7b8bb2"/>
                </a:solidFill>
                <a:effectLst/>
                <a:uFillTx/>
                <a:latin typeface="Calibri"/>
                <a:ea typeface="DejaVu Sans"/>
              </a:rPr>
              <a:t>Live Server: HTML estáticos en local con recarga automática</a:t>
            </a:r>
            <a:endParaRPr lang="es-E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CardBG"/>
          <p:cNvSpPr/>
          <p:nvPr/>
        </p:nvSpPr>
        <p:spPr>
          <a:xfrm>
            <a:off x="4754880" y="1243800"/>
            <a:ext cx="4022640" cy="548280"/>
          </a:xfrm>
          <a:prstGeom prst="rect">
            <a:avLst/>
          </a:prstGeom>
          <a:solidFill>
            <a:srgbClr val="f4f6fb"/>
          </a:solidFill>
          <a:ln w="9000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8" name="CardTxt"/>
          <p:cNvSpPr/>
          <p:nvPr/>
        </p:nvSpPr>
        <p:spPr>
          <a:xfrm>
            <a:off x="4846320" y="1243800"/>
            <a:ext cx="3931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000" rIns="45000" tIns="50040" bIns="29880" anchor="t">
            <a:noAutofit/>
          </a:bodyPr>
          <a:p>
            <a:pPr>
              <a:lnSpc>
                <a:spcPct val="100000"/>
              </a:lnSpc>
            </a:pPr>
            <a:r>
              <a:rPr lang="es-ES" sz="1200" b="1" u="none" strike="noStrike">
                <a:solidFill>
                  <a:srgbClr val="1a2744"/>
                </a:solidFill>
                <a:effectLst/>
                <a:uFillTx/>
                <a:latin typeface="Calibri"/>
                <a:ea typeface="DejaVu Sans"/>
              </a:rPr>
              <a:t>Laravel (PHP 8.x)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980" b="0" u="none" strike="noStrike">
                <a:solidFill>
                  <a:srgbClr val="2857a7"/>
                </a:solidFill>
                <a:effectLst/>
                <a:uFillTx/>
                <a:latin typeface="Calibri"/>
                <a:ea typeface="DejaVu Sans"/>
              </a:rPr>
              <a:t>Framework del backend — </a:t>
            </a:r>
            <a:r>
              <a:rPr lang="es-ES" sz="980" b="0" u="none" strike="noStrike">
                <a:solidFill>
                  <a:srgbClr val="7b8bb2"/>
                </a:solidFill>
                <a:effectLst/>
                <a:uFillTx/>
                <a:latin typeface="Calibri"/>
                <a:ea typeface="DejaVu Sans"/>
              </a:rPr>
              <a:t>MVC estricto, Eloquent ORM, Sanctum — indicado por el profesorado</a:t>
            </a:r>
            <a:endParaRPr lang="es-E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CardBG"/>
          <p:cNvSpPr/>
          <p:nvPr/>
        </p:nvSpPr>
        <p:spPr>
          <a:xfrm>
            <a:off x="4754880" y="1839600"/>
            <a:ext cx="4022640" cy="548280"/>
          </a:xfrm>
          <a:prstGeom prst="rect">
            <a:avLst/>
          </a:prstGeom>
          <a:solidFill>
            <a:srgbClr val="f4f6fb"/>
          </a:solidFill>
          <a:ln w="9000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70" name="CardTxt"/>
          <p:cNvSpPr/>
          <p:nvPr/>
        </p:nvSpPr>
        <p:spPr>
          <a:xfrm>
            <a:off x="4846320" y="1839600"/>
            <a:ext cx="3931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000" rIns="45000" tIns="50040" bIns="29880" anchor="t">
            <a:noAutofit/>
          </a:bodyPr>
          <a:p>
            <a:pPr>
              <a:lnSpc>
                <a:spcPct val="100000"/>
              </a:lnSpc>
            </a:pPr>
            <a:r>
              <a:rPr lang="es-ES" sz="1200" b="1" u="none" strike="noStrike">
                <a:solidFill>
                  <a:srgbClr val="1a2744"/>
                </a:solidFill>
                <a:effectLst/>
                <a:uFillTx/>
                <a:latin typeface="Calibri"/>
                <a:ea typeface="DejaVu Sans"/>
              </a:rPr>
              <a:t>Laravel Sanctum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980" b="0" u="none" strike="noStrike">
                <a:solidFill>
                  <a:srgbClr val="2857a7"/>
                </a:solidFill>
                <a:effectLst/>
                <a:uFillTx/>
                <a:latin typeface="Calibri"/>
                <a:ea typeface="DejaVu Sans"/>
              </a:rPr>
              <a:t>Autenticación API — </a:t>
            </a:r>
            <a:r>
              <a:rPr lang="es-ES" sz="980" b="0" u="none" strike="noStrike">
                <a:solidFill>
                  <a:srgbClr val="7b8bb2"/>
                </a:solidFill>
                <a:effectLst/>
                <a:uFillTx/>
                <a:latin typeface="Calibri"/>
                <a:ea typeface="DejaVu Sans"/>
              </a:rPr>
              <a:t>Stateless: tokens Bearer para clientes y admins</a:t>
            </a:r>
            <a:endParaRPr lang="es-E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CardBG"/>
          <p:cNvSpPr/>
          <p:nvPr/>
        </p:nvSpPr>
        <p:spPr>
          <a:xfrm>
            <a:off x="4754880" y="2435400"/>
            <a:ext cx="4022640" cy="548280"/>
          </a:xfrm>
          <a:prstGeom prst="rect">
            <a:avLst/>
          </a:prstGeom>
          <a:solidFill>
            <a:srgbClr val="f4f6fb"/>
          </a:solidFill>
          <a:ln w="9000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72" name="CardTxt"/>
          <p:cNvSpPr/>
          <p:nvPr/>
        </p:nvSpPr>
        <p:spPr>
          <a:xfrm>
            <a:off x="4846320" y="2435400"/>
            <a:ext cx="3931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000" rIns="45000" tIns="50040" bIns="29880" anchor="t">
            <a:noAutofit/>
          </a:bodyPr>
          <a:p>
            <a:pPr>
              <a:lnSpc>
                <a:spcPct val="100000"/>
              </a:lnSpc>
            </a:pPr>
            <a:r>
              <a:rPr lang="es-ES" sz="1200" b="1" u="none" strike="noStrike">
                <a:solidFill>
                  <a:srgbClr val="1a2744"/>
                </a:solidFill>
                <a:effectLst/>
                <a:uFillTx/>
                <a:latin typeface="Calibri"/>
                <a:ea typeface="DejaVu Sans"/>
              </a:rPr>
              <a:t>MySQL / MariaDB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980" b="0" u="none" strike="noStrike">
                <a:solidFill>
                  <a:srgbClr val="2857a7"/>
                </a:solidFill>
                <a:effectLst/>
                <a:uFillTx/>
                <a:latin typeface="Calibri"/>
                <a:ea typeface="DejaVu Sans"/>
              </a:rPr>
              <a:t>Base de datos — </a:t>
            </a:r>
            <a:r>
              <a:rPr lang="es-ES" sz="980" b="0" u="none" strike="noStrike">
                <a:solidFill>
                  <a:srgbClr val="7b8bb2"/>
                </a:solidFill>
                <a:effectLst/>
                <a:uFillTx/>
                <a:latin typeface="Calibri"/>
                <a:ea typeface="DejaVu Sans"/>
              </a:rPr>
              <a:t>Relacional, incluida en el programa, compatible con Laravel</a:t>
            </a:r>
            <a:endParaRPr lang="es-E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CardBG"/>
          <p:cNvSpPr/>
          <p:nvPr/>
        </p:nvSpPr>
        <p:spPr>
          <a:xfrm>
            <a:off x="4754880" y="3031200"/>
            <a:ext cx="4022640" cy="548280"/>
          </a:xfrm>
          <a:prstGeom prst="rect">
            <a:avLst/>
          </a:prstGeom>
          <a:solidFill>
            <a:srgbClr val="f4f6fb"/>
          </a:solidFill>
          <a:ln w="9000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74" name="CardTxt"/>
          <p:cNvSpPr/>
          <p:nvPr/>
        </p:nvSpPr>
        <p:spPr>
          <a:xfrm>
            <a:off x="4846320" y="3031200"/>
            <a:ext cx="3931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000" rIns="45000" tIns="50040" bIns="29880" anchor="t">
            <a:noAutofit/>
          </a:bodyPr>
          <a:p>
            <a:pPr>
              <a:lnSpc>
                <a:spcPct val="100000"/>
              </a:lnSpc>
            </a:pPr>
            <a:r>
              <a:rPr lang="es-ES" sz="1200" b="1" u="none" strike="noStrike">
                <a:solidFill>
                  <a:srgbClr val="1a2744"/>
                </a:solidFill>
                <a:effectLst/>
                <a:uFillTx/>
                <a:latin typeface="Calibri"/>
                <a:ea typeface="DejaVu Sans"/>
              </a:rPr>
              <a:t>Composer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980" b="0" u="none" strike="noStrike">
                <a:solidFill>
                  <a:srgbClr val="2857a7"/>
                </a:solidFill>
                <a:effectLst/>
                <a:uFillTx/>
                <a:latin typeface="Calibri"/>
                <a:ea typeface="DejaVu Sans"/>
              </a:rPr>
              <a:t>Gestor de paquetes PHP — </a:t>
            </a:r>
            <a:r>
              <a:rPr lang="es-ES" sz="980" b="0" u="none" strike="noStrike">
                <a:solidFill>
                  <a:srgbClr val="7b8bb2"/>
                </a:solidFill>
                <a:effectLst/>
                <a:uFillTx/>
                <a:latin typeface="Calibri"/>
                <a:ea typeface="DejaVu Sans"/>
              </a:rPr>
              <a:t>Estándar del ecosistema PHP para dependencias</a:t>
            </a:r>
            <a:endParaRPr lang="es-E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CardBG"/>
          <p:cNvSpPr/>
          <p:nvPr/>
        </p:nvSpPr>
        <p:spPr>
          <a:xfrm>
            <a:off x="4754880" y="3627000"/>
            <a:ext cx="4022640" cy="548280"/>
          </a:xfrm>
          <a:prstGeom prst="rect">
            <a:avLst/>
          </a:prstGeom>
          <a:solidFill>
            <a:srgbClr val="f4f6fb"/>
          </a:solidFill>
          <a:ln w="9000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76" name="CardTxt"/>
          <p:cNvSpPr/>
          <p:nvPr/>
        </p:nvSpPr>
        <p:spPr>
          <a:xfrm>
            <a:off x="4846320" y="3627000"/>
            <a:ext cx="3931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000" rIns="45000" tIns="50040" bIns="29880" anchor="t">
            <a:noAutofit/>
          </a:bodyPr>
          <a:p>
            <a:pPr>
              <a:lnSpc>
                <a:spcPct val="100000"/>
              </a:lnSpc>
            </a:pPr>
            <a:r>
              <a:rPr lang="es-ES" sz="1200" b="1" u="none" strike="noStrike">
                <a:solidFill>
                  <a:srgbClr val="1a2744"/>
                </a:solidFill>
                <a:effectLst/>
                <a:uFillTx/>
                <a:latin typeface="Calibri"/>
                <a:ea typeface="DejaVu Sans"/>
              </a:rPr>
              <a:t>Antigravity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980" b="0" u="none" strike="noStrike">
                <a:solidFill>
                  <a:srgbClr val="2857a7"/>
                </a:solidFill>
                <a:effectLst/>
                <a:uFillTx/>
                <a:latin typeface="Calibri"/>
                <a:ea typeface="DejaVu Sans"/>
              </a:rPr>
              <a:t>Scaffolding con IA — </a:t>
            </a:r>
            <a:r>
              <a:rPr lang="es-ES" sz="980" b="0" u="none" strike="noStrike">
                <a:solidFill>
                  <a:srgbClr val="7b8bb2"/>
                </a:solidFill>
                <a:effectLst/>
                <a:uFillTx/>
                <a:latin typeface="Calibri"/>
                <a:ea typeface="DejaVu Sans"/>
              </a:rPr>
              <a:t>Generación asistida de modelos, migraciones y controladores</a:t>
            </a:r>
            <a:endParaRPr lang="es-E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CardBG"/>
          <p:cNvSpPr/>
          <p:nvPr/>
        </p:nvSpPr>
        <p:spPr>
          <a:xfrm>
            <a:off x="4754880" y="4222800"/>
            <a:ext cx="4022640" cy="548280"/>
          </a:xfrm>
          <a:prstGeom prst="rect">
            <a:avLst/>
          </a:prstGeom>
          <a:solidFill>
            <a:srgbClr val="f4f6fb"/>
          </a:solidFill>
          <a:ln w="9000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78" name="CardTxt"/>
          <p:cNvSpPr/>
          <p:nvPr/>
        </p:nvSpPr>
        <p:spPr>
          <a:xfrm>
            <a:off x="4846320" y="4222800"/>
            <a:ext cx="3931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000" rIns="45000" tIns="50040" bIns="29880" anchor="t">
            <a:noAutofit/>
          </a:bodyPr>
          <a:p>
            <a:pPr>
              <a:lnSpc>
                <a:spcPct val="100000"/>
              </a:lnSpc>
            </a:pPr>
            <a:r>
              <a:rPr lang="es-ES" sz="1200" b="1" u="none" strike="noStrike">
                <a:solidFill>
                  <a:srgbClr val="1a2744"/>
                </a:solidFill>
                <a:effectLst/>
                <a:uFillTx/>
                <a:latin typeface="Calibri"/>
                <a:ea typeface="DejaVu Sans"/>
              </a:rPr>
              <a:t>XAMPP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980" b="0" u="none" strike="noStrike">
                <a:solidFill>
                  <a:srgbClr val="2857a7"/>
                </a:solidFill>
                <a:effectLst/>
                <a:uFillTx/>
                <a:latin typeface="Calibri"/>
                <a:ea typeface="DejaVu Sans"/>
              </a:rPr>
              <a:t>Entorno de desarrollo local — </a:t>
            </a:r>
            <a:r>
              <a:rPr lang="es-ES" sz="980" b="0" u="none" strike="noStrike">
                <a:solidFill>
                  <a:srgbClr val="7b8bb2"/>
                </a:solidFill>
                <a:effectLst/>
                <a:uFillTx/>
                <a:latin typeface="Calibri"/>
                <a:ea typeface="DejaVu Sans"/>
              </a:rPr>
              <a:t>Apache + PHP + MySQL en un instalador — Windows y Linux</a:t>
            </a:r>
            <a:endParaRPr lang="es-E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FooterBar"/>
          <p:cNvSpPr/>
          <p:nvPr/>
        </p:nvSpPr>
        <p:spPr>
          <a:xfrm>
            <a:off x="0" y="4892040"/>
            <a:ext cx="9142920" cy="250560"/>
          </a:xfrm>
          <a:prstGeom prst="rect">
            <a:avLst/>
          </a:prstGeom>
          <a:solidFill>
            <a:srgbClr val="1a2744"/>
          </a:solidFill>
          <a:ln w="126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80" name="FooterText"/>
          <p:cNvSpPr/>
          <p:nvPr/>
        </p:nvSpPr>
        <p:spPr>
          <a:xfrm>
            <a:off x="274320" y="4892040"/>
            <a:ext cx="6399720" cy="25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aabbdd"/>
                </a:solidFill>
                <a:effectLst/>
                <a:uFillTx/>
                <a:latin typeface="Calibri"/>
                <a:ea typeface="DejaVu Sans"/>
              </a:rPr>
              <a:t>Clon de Agapea · Richard &amp; Tomás · 2026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PageNum"/>
          <p:cNvSpPr/>
          <p:nvPr/>
        </p:nvSpPr>
        <p:spPr>
          <a:xfrm>
            <a:off x="8595360" y="4892040"/>
            <a:ext cx="456120" cy="25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900" b="0" u="none" strike="noStrike">
                <a:solidFill>
                  <a:srgbClr val="aabbdd"/>
                </a:solidFill>
                <a:effectLst/>
                <a:uFillTx/>
                <a:latin typeface="Calibri"/>
                <a:ea typeface="DejaVu Sans"/>
              </a:rPr>
              <a:t>6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0"/>
          <p:cNvSpPr/>
          <p:nvPr/>
        </p:nvSpPr>
        <p:spPr>
          <a:xfrm>
            <a:off x="365760" y="201240"/>
            <a:ext cx="53640" cy="501840"/>
          </a:xfrm>
          <a:prstGeom prst="rect">
            <a:avLst/>
          </a:prstGeom>
          <a:solidFill>
            <a:srgbClr val="c9973a"/>
          </a:solidFill>
          <a:ln w="12600">
            <a:solidFill>
              <a:srgbClr val="c997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83" name="Text 1"/>
          <p:cNvSpPr/>
          <p:nvPr/>
        </p:nvSpPr>
        <p:spPr>
          <a:xfrm>
            <a:off x="502920" y="164520"/>
            <a:ext cx="831996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Diseño de Interfaces — Vista Principal (Home)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2"/>
          <p:cNvSpPr/>
          <p:nvPr/>
        </p:nvSpPr>
        <p:spPr>
          <a:xfrm>
            <a:off x="365760" y="777240"/>
            <a:ext cx="8412480" cy="360"/>
          </a:xfrm>
          <a:prstGeom prst="line">
            <a:avLst/>
          </a:prstGeom>
          <a:ln w="15120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85" name="Shape 3"/>
          <p:cNvSpPr/>
          <p:nvPr/>
        </p:nvSpPr>
        <p:spPr>
          <a:xfrm>
            <a:off x="0" y="4892040"/>
            <a:ext cx="9142920" cy="250560"/>
          </a:xfrm>
          <a:prstGeom prst="rect">
            <a:avLst/>
          </a:prstGeom>
          <a:solidFill>
            <a:srgbClr val="1a2744"/>
          </a:solidFill>
          <a:ln w="126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86" name="Text 4"/>
          <p:cNvSpPr/>
          <p:nvPr/>
        </p:nvSpPr>
        <p:spPr>
          <a:xfrm>
            <a:off x="274320" y="4892040"/>
            <a:ext cx="6399720" cy="25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abbdd"/>
                </a:solidFill>
                <a:effectLst/>
                <a:uFillTx/>
                <a:latin typeface="Calibri"/>
                <a:ea typeface="Calibri"/>
              </a:rPr>
              <a:t>Clon de Agapea · Richard &amp; Tomás · 2026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5"/>
          <p:cNvSpPr/>
          <p:nvPr/>
        </p:nvSpPr>
        <p:spPr>
          <a:xfrm>
            <a:off x="8595360" y="4892040"/>
            <a:ext cx="456120" cy="25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abbdd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6"/>
          <p:cNvSpPr/>
          <p:nvPr/>
        </p:nvSpPr>
        <p:spPr>
          <a:xfrm>
            <a:off x="365760" y="868680"/>
            <a:ext cx="41137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7b8bb2"/>
                </a:solidFill>
                <a:effectLst/>
                <a:uFillTx/>
                <a:latin typeface="Calibri"/>
                <a:ea typeface="Calibri"/>
              </a:rPr>
              <a:t>Wireframe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9" name="Image 0" descr="preencoded.png"/>
          <p:cNvPicPr/>
          <p:nvPr/>
        </p:nvPicPr>
        <p:blipFill>
          <a:blip r:embed="rId1"/>
          <a:stretch/>
        </p:blipFill>
        <p:spPr>
          <a:xfrm>
            <a:off x="365760" y="1188720"/>
            <a:ext cx="4113720" cy="3382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0" name="Text 7"/>
          <p:cNvSpPr/>
          <p:nvPr/>
        </p:nvSpPr>
        <p:spPr>
          <a:xfrm>
            <a:off x="4663440" y="868680"/>
            <a:ext cx="41137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2857a7"/>
                </a:solidFill>
                <a:effectLst/>
                <a:uFillTx/>
                <a:latin typeface="Calibri"/>
                <a:ea typeface="Calibri"/>
              </a:rPr>
              <a:t>Implementación Real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1" name="Image 1" descr="preencoded.png"/>
          <p:cNvPicPr/>
          <p:nvPr/>
        </p:nvPicPr>
        <p:blipFill>
          <a:blip r:embed="rId2"/>
          <a:stretch/>
        </p:blipFill>
        <p:spPr>
          <a:xfrm>
            <a:off x="4663440" y="1188720"/>
            <a:ext cx="4113720" cy="3382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hape 0"/>
          <p:cNvSpPr/>
          <p:nvPr/>
        </p:nvSpPr>
        <p:spPr>
          <a:xfrm>
            <a:off x="365760" y="201240"/>
            <a:ext cx="53640" cy="501840"/>
          </a:xfrm>
          <a:prstGeom prst="rect">
            <a:avLst/>
          </a:prstGeom>
          <a:solidFill>
            <a:srgbClr val="c9973a"/>
          </a:solidFill>
          <a:ln w="12600">
            <a:solidFill>
              <a:srgbClr val="c997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93" name="Text 1"/>
          <p:cNvSpPr/>
          <p:nvPr/>
        </p:nvSpPr>
        <p:spPr>
          <a:xfrm>
            <a:off x="502920" y="164520"/>
            <a:ext cx="831996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Diseño de Interfaces — Vista Detalle de Libro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2"/>
          <p:cNvSpPr/>
          <p:nvPr/>
        </p:nvSpPr>
        <p:spPr>
          <a:xfrm>
            <a:off x="365760" y="777240"/>
            <a:ext cx="8412480" cy="360"/>
          </a:xfrm>
          <a:prstGeom prst="line">
            <a:avLst/>
          </a:prstGeom>
          <a:ln w="15120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95" name="Shape 3"/>
          <p:cNvSpPr/>
          <p:nvPr/>
        </p:nvSpPr>
        <p:spPr>
          <a:xfrm>
            <a:off x="0" y="4892040"/>
            <a:ext cx="9142920" cy="250560"/>
          </a:xfrm>
          <a:prstGeom prst="rect">
            <a:avLst/>
          </a:prstGeom>
          <a:solidFill>
            <a:srgbClr val="1a2744"/>
          </a:solidFill>
          <a:ln w="126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96" name="Text 4"/>
          <p:cNvSpPr/>
          <p:nvPr/>
        </p:nvSpPr>
        <p:spPr>
          <a:xfrm>
            <a:off x="274320" y="4892040"/>
            <a:ext cx="6399720" cy="25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abbdd"/>
                </a:solidFill>
                <a:effectLst/>
                <a:uFillTx/>
                <a:latin typeface="Calibri"/>
                <a:ea typeface="Calibri"/>
              </a:rPr>
              <a:t>Clon de Agapea · Richard &amp; Tomás · 2026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5"/>
          <p:cNvSpPr/>
          <p:nvPr/>
        </p:nvSpPr>
        <p:spPr>
          <a:xfrm>
            <a:off x="8595360" y="4892040"/>
            <a:ext cx="456120" cy="25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abbdd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6"/>
          <p:cNvSpPr/>
          <p:nvPr/>
        </p:nvSpPr>
        <p:spPr>
          <a:xfrm>
            <a:off x="365760" y="868680"/>
            <a:ext cx="41137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7b8bb2"/>
                </a:solidFill>
                <a:effectLst/>
                <a:uFillTx/>
                <a:latin typeface="Calibri"/>
                <a:ea typeface="Calibri"/>
              </a:rPr>
              <a:t>Wireframe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9" name="Image 0" descr="preencoded.png"/>
          <p:cNvPicPr/>
          <p:nvPr/>
        </p:nvPicPr>
        <p:blipFill>
          <a:blip r:embed="rId1"/>
          <a:stretch/>
        </p:blipFill>
        <p:spPr>
          <a:xfrm>
            <a:off x="365760" y="1188720"/>
            <a:ext cx="4113720" cy="3382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0" name="Text 7"/>
          <p:cNvSpPr/>
          <p:nvPr/>
        </p:nvSpPr>
        <p:spPr>
          <a:xfrm>
            <a:off x="4663440" y="868680"/>
            <a:ext cx="41137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2857a7"/>
                </a:solidFill>
                <a:effectLst/>
                <a:uFillTx/>
                <a:latin typeface="Calibri"/>
                <a:ea typeface="Calibri"/>
              </a:rPr>
              <a:t>Implementación Real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1" name="Image 1" descr="preencoded.png"/>
          <p:cNvPicPr/>
          <p:nvPr/>
        </p:nvPicPr>
        <p:blipFill>
          <a:blip r:embed="rId2"/>
          <a:stretch/>
        </p:blipFill>
        <p:spPr>
          <a:xfrm>
            <a:off x="4663440" y="1188720"/>
            <a:ext cx="4113720" cy="3382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Shape 0"/>
          <p:cNvSpPr/>
          <p:nvPr/>
        </p:nvSpPr>
        <p:spPr>
          <a:xfrm>
            <a:off x="365760" y="201240"/>
            <a:ext cx="53640" cy="501840"/>
          </a:xfrm>
          <a:prstGeom prst="rect">
            <a:avLst/>
          </a:prstGeom>
          <a:solidFill>
            <a:srgbClr val="c9973a"/>
          </a:solidFill>
          <a:ln w="12600">
            <a:solidFill>
              <a:srgbClr val="c997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03" name="Text 1"/>
          <p:cNvSpPr/>
          <p:nvPr/>
        </p:nvSpPr>
        <p:spPr>
          <a:xfrm>
            <a:off x="502920" y="164520"/>
            <a:ext cx="831996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Diseño de Interfaces — Panel de Administración (SPA)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2"/>
          <p:cNvSpPr/>
          <p:nvPr/>
        </p:nvSpPr>
        <p:spPr>
          <a:xfrm>
            <a:off x="365760" y="777240"/>
            <a:ext cx="8412480" cy="360"/>
          </a:xfrm>
          <a:prstGeom prst="line">
            <a:avLst/>
          </a:prstGeom>
          <a:ln w="15120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05" name="Shape 3"/>
          <p:cNvSpPr/>
          <p:nvPr/>
        </p:nvSpPr>
        <p:spPr>
          <a:xfrm>
            <a:off x="0" y="4892040"/>
            <a:ext cx="9142920" cy="250560"/>
          </a:xfrm>
          <a:prstGeom prst="rect">
            <a:avLst/>
          </a:prstGeom>
          <a:solidFill>
            <a:srgbClr val="1a2744"/>
          </a:solidFill>
          <a:ln w="126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06" name="Text 4"/>
          <p:cNvSpPr/>
          <p:nvPr/>
        </p:nvSpPr>
        <p:spPr>
          <a:xfrm>
            <a:off x="274320" y="4892040"/>
            <a:ext cx="6399720" cy="25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abbdd"/>
                </a:solidFill>
                <a:effectLst/>
                <a:uFillTx/>
                <a:latin typeface="Calibri"/>
                <a:ea typeface="Calibri"/>
              </a:rPr>
              <a:t>Clon de Agapea · Richard &amp; Tomás · 2026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5"/>
          <p:cNvSpPr/>
          <p:nvPr/>
        </p:nvSpPr>
        <p:spPr>
          <a:xfrm>
            <a:off x="8595360" y="4892040"/>
            <a:ext cx="456120" cy="25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abbdd"/>
                </a:solidFill>
                <a:effectLst/>
                <a:uFillTx/>
                <a:latin typeface="Calibri"/>
                <a:ea typeface="Calibri"/>
              </a:rPr>
              <a:t>8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6"/>
          <p:cNvSpPr/>
          <p:nvPr/>
        </p:nvSpPr>
        <p:spPr>
          <a:xfrm>
            <a:off x="365760" y="868680"/>
            <a:ext cx="41137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7b8bb2"/>
                </a:solidFill>
                <a:effectLst/>
                <a:uFillTx/>
                <a:latin typeface="Calibri"/>
                <a:ea typeface="Calibri"/>
              </a:rPr>
              <a:t>Wireframe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9" name="Image 0" descr="preencoded.png"/>
          <p:cNvPicPr/>
          <p:nvPr/>
        </p:nvPicPr>
        <p:blipFill>
          <a:blip r:embed="rId1"/>
          <a:stretch/>
        </p:blipFill>
        <p:spPr>
          <a:xfrm>
            <a:off x="365760" y="1188720"/>
            <a:ext cx="4113720" cy="3382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0" name="Text 7"/>
          <p:cNvSpPr/>
          <p:nvPr/>
        </p:nvSpPr>
        <p:spPr>
          <a:xfrm>
            <a:off x="4663440" y="868680"/>
            <a:ext cx="41137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2857a7"/>
                </a:solidFill>
                <a:effectLst/>
                <a:uFillTx/>
                <a:latin typeface="Calibri"/>
                <a:ea typeface="Calibri"/>
              </a:rPr>
              <a:t>Implementación Real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1" name="Image 1" descr="preencoded.png"/>
          <p:cNvPicPr/>
          <p:nvPr/>
        </p:nvPicPr>
        <p:blipFill>
          <a:blip r:embed="rId2"/>
          <a:stretch/>
        </p:blipFill>
        <p:spPr>
          <a:xfrm>
            <a:off x="4663440" y="1188720"/>
            <a:ext cx="4113720" cy="3382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0"/>
          <p:cNvSpPr/>
          <p:nvPr/>
        </p:nvSpPr>
        <p:spPr>
          <a:xfrm>
            <a:off x="365760" y="201240"/>
            <a:ext cx="53640" cy="501840"/>
          </a:xfrm>
          <a:prstGeom prst="rect">
            <a:avLst/>
          </a:prstGeom>
          <a:solidFill>
            <a:srgbClr val="c9973a"/>
          </a:solidFill>
          <a:ln w="12600">
            <a:solidFill>
              <a:srgbClr val="c997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13" name="Text 1"/>
          <p:cNvSpPr/>
          <p:nvPr/>
        </p:nvSpPr>
        <p:spPr>
          <a:xfrm>
            <a:off x="502920" y="164520"/>
            <a:ext cx="831996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Base de Datos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2"/>
          <p:cNvSpPr/>
          <p:nvPr/>
        </p:nvSpPr>
        <p:spPr>
          <a:xfrm>
            <a:off x="365760" y="777240"/>
            <a:ext cx="8412480" cy="360"/>
          </a:xfrm>
          <a:prstGeom prst="line">
            <a:avLst/>
          </a:prstGeom>
          <a:ln w="15120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15" name="Shape 3"/>
          <p:cNvSpPr/>
          <p:nvPr/>
        </p:nvSpPr>
        <p:spPr>
          <a:xfrm>
            <a:off x="0" y="4892040"/>
            <a:ext cx="9142920" cy="250560"/>
          </a:xfrm>
          <a:prstGeom prst="rect">
            <a:avLst/>
          </a:prstGeom>
          <a:solidFill>
            <a:srgbClr val="1a2744"/>
          </a:solidFill>
          <a:ln w="126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16" name="Text 4"/>
          <p:cNvSpPr/>
          <p:nvPr/>
        </p:nvSpPr>
        <p:spPr>
          <a:xfrm>
            <a:off x="274320" y="4892040"/>
            <a:ext cx="6399720" cy="25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abbdd"/>
                </a:solidFill>
                <a:effectLst/>
                <a:uFillTx/>
                <a:latin typeface="Calibri"/>
                <a:ea typeface="Calibri"/>
              </a:rPr>
              <a:t>Clon de Agapea · Richard &amp; Tomás · 2026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5"/>
          <p:cNvSpPr/>
          <p:nvPr/>
        </p:nvSpPr>
        <p:spPr>
          <a:xfrm>
            <a:off x="8595360" y="4892040"/>
            <a:ext cx="456120" cy="25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abbdd"/>
                </a:solidFill>
                <a:effectLst/>
                <a:uFillTx/>
                <a:latin typeface="Calibri"/>
                <a:ea typeface="Calibri"/>
              </a:rPr>
              <a:t>9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8" name="Image 0" descr="preencoded.png"/>
          <p:cNvPicPr/>
          <p:nvPr/>
        </p:nvPicPr>
        <p:blipFill>
          <a:blip r:embed="rId1"/>
          <a:stretch/>
        </p:blipFill>
        <p:spPr>
          <a:xfrm>
            <a:off x="320040" y="868680"/>
            <a:ext cx="5485320" cy="3565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9" name="Text 6"/>
          <p:cNvSpPr/>
          <p:nvPr/>
        </p:nvSpPr>
        <p:spPr>
          <a:xfrm>
            <a:off x="5989320" y="868680"/>
            <a:ext cx="28335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Tablas Principales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7"/>
          <p:cNvSpPr/>
          <p:nvPr/>
        </p:nvSpPr>
        <p:spPr>
          <a:xfrm>
            <a:off x="5989320" y="1280160"/>
            <a:ext cx="2787840" cy="401400"/>
          </a:xfrm>
          <a:prstGeom prst="rect">
            <a:avLst/>
          </a:prstGeom>
          <a:solidFill>
            <a:srgbClr val="f4f6fb"/>
          </a:solidFill>
          <a:ln w="10080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21" name="Text 8"/>
          <p:cNvSpPr/>
          <p:nvPr/>
        </p:nvSpPr>
        <p:spPr>
          <a:xfrm>
            <a:off x="6108120" y="1280160"/>
            <a:ext cx="265068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2857a7"/>
                </a:solidFill>
                <a:effectLst/>
                <a:uFillTx/>
                <a:latin typeface="Calibri"/>
                <a:ea typeface="Calibri"/>
              </a:rPr>
              <a:t>books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9"/>
          <p:cNvSpPr/>
          <p:nvPr/>
        </p:nvSpPr>
        <p:spPr>
          <a:xfrm>
            <a:off x="6108120" y="1481400"/>
            <a:ext cx="265068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7b8bb2"/>
                </a:solidFill>
                <a:effectLst/>
                <a:uFillTx/>
                <a:latin typeface="Calibri"/>
                <a:ea typeface="Calibri"/>
              </a:rPr>
              <a:t>Catálogo: precio, stock, ISBN, portada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10"/>
          <p:cNvSpPr/>
          <p:nvPr/>
        </p:nvSpPr>
        <p:spPr>
          <a:xfrm>
            <a:off x="5989320" y="1755720"/>
            <a:ext cx="2787840" cy="401400"/>
          </a:xfrm>
          <a:prstGeom prst="rect">
            <a:avLst/>
          </a:prstGeom>
          <a:solidFill>
            <a:srgbClr val="f4f6fb"/>
          </a:solidFill>
          <a:ln w="10080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24" name="Text 11"/>
          <p:cNvSpPr/>
          <p:nvPr/>
        </p:nvSpPr>
        <p:spPr>
          <a:xfrm>
            <a:off x="6108120" y="1755720"/>
            <a:ext cx="265068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2857a7"/>
                </a:solidFill>
                <a:effectLst/>
                <a:uFillTx/>
                <a:latin typeface="Calibri"/>
                <a:ea typeface="Calibri"/>
              </a:rPr>
              <a:t>customers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2"/>
          <p:cNvSpPr/>
          <p:nvPr/>
        </p:nvSpPr>
        <p:spPr>
          <a:xfrm>
            <a:off x="6108120" y="1956960"/>
            <a:ext cx="265068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7b8bb2"/>
                </a:solidFill>
                <a:effectLst/>
                <a:uFillTx/>
                <a:latin typeface="Calibri"/>
                <a:ea typeface="Calibri"/>
              </a:rPr>
              <a:t>Clientes con carrito en JSON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13"/>
          <p:cNvSpPr/>
          <p:nvPr/>
        </p:nvSpPr>
        <p:spPr>
          <a:xfrm>
            <a:off x="5989320" y="2231280"/>
            <a:ext cx="2787840" cy="401400"/>
          </a:xfrm>
          <a:prstGeom prst="rect">
            <a:avLst/>
          </a:prstGeom>
          <a:solidFill>
            <a:srgbClr val="f4f6fb"/>
          </a:solidFill>
          <a:ln w="10080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27" name="Text 14"/>
          <p:cNvSpPr/>
          <p:nvPr/>
        </p:nvSpPr>
        <p:spPr>
          <a:xfrm>
            <a:off x="6108120" y="2231280"/>
            <a:ext cx="265068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2857a7"/>
                </a:solidFill>
                <a:effectLst/>
                <a:uFillTx/>
                <a:latin typeface="Calibri"/>
                <a:ea typeface="Calibri"/>
              </a:rPr>
              <a:t>orders / order_items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15"/>
          <p:cNvSpPr/>
          <p:nvPr/>
        </p:nvSpPr>
        <p:spPr>
          <a:xfrm>
            <a:off x="6108120" y="2432160"/>
            <a:ext cx="265068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7b8bb2"/>
                </a:solidFill>
                <a:effectLst/>
                <a:uFillTx/>
                <a:latin typeface="Calibri"/>
                <a:ea typeface="Calibri"/>
              </a:rPr>
              <a:t>Pedidos y líneas de detalle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16"/>
          <p:cNvSpPr/>
          <p:nvPr/>
        </p:nvSpPr>
        <p:spPr>
          <a:xfrm>
            <a:off x="5989320" y="2706480"/>
            <a:ext cx="2787840" cy="401400"/>
          </a:xfrm>
          <a:prstGeom prst="rect">
            <a:avLst/>
          </a:prstGeom>
          <a:solidFill>
            <a:srgbClr val="f4f6fb"/>
          </a:solidFill>
          <a:ln w="10080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30" name="Text 17"/>
          <p:cNvSpPr/>
          <p:nvPr/>
        </p:nvSpPr>
        <p:spPr>
          <a:xfrm>
            <a:off x="6108120" y="2706480"/>
            <a:ext cx="265068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2857a7"/>
                </a:solidFill>
                <a:effectLst/>
                <a:uFillTx/>
                <a:latin typeface="Calibri"/>
                <a:ea typeface="Calibri"/>
              </a:rPr>
              <a:t>reviews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18"/>
          <p:cNvSpPr/>
          <p:nvPr/>
        </p:nvSpPr>
        <p:spPr>
          <a:xfrm>
            <a:off x="6108120" y="2907720"/>
            <a:ext cx="265068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7b8bb2"/>
                </a:solidFill>
                <a:effectLst/>
                <a:uFillTx/>
                <a:latin typeface="Calibri"/>
                <a:ea typeface="Calibri"/>
              </a:rPr>
              <a:t>Reseñas vinculadas a libro y cliente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19"/>
          <p:cNvSpPr/>
          <p:nvPr/>
        </p:nvSpPr>
        <p:spPr>
          <a:xfrm>
            <a:off x="5989320" y="3182040"/>
            <a:ext cx="2787840" cy="401400"/>
          </a:xfrm>
          <a:prstGeom prst="rect">
            <a:avLst/>
          </a:prstGeom>
          <a:solidFill>
            <a:srgbClr val="f4f6fb"/>
          </a:solidFill>
          <a:ln w="10080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33" name="Text 20"/>
          <p:cNvSpPr/>
          <p:nvPr/>
        </p:nvSpPr>
        <p:spPr>
          <a:xfrm>
            <a:off x="6108120" y="3182040"/>
            <a:ext cx="265068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2857a7"/>
                </a:solidFill>
                <a:effectLst/>
                <a:uFillTx/>
                <a:latin typeface="Calibri"/>
                <a:ea typeface="Calibri"/>
              </a:rPr>
              <a:t>favorites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21"/>
          <p:cNvSpPr/>
          <p:nvPr/>
        </p:nvSpPr>
        <p:spPr>
          <a:xfrm>
            <a:off x="6108120" y="3383280"/>
            <a:ext cx="265068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7b8bb2"/>
                </a:solidFill>
                <a:effectLst/>
                <a:uFillTx/>
                <a:latin typeface="Calibri"/>
                <a:ea typeface="Calibri"/>
              </a:rPr>
              <a:t>Tabla pivote cliente–libro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22"/>
          <p:cNvSpPr/>
          <p:nvPr/>
        </p:nvSpPr>
        <p:spPr>
          <a:xfrm>
            <a:off x="5989320" y="3657600"/>
            <a:ext cx="2787840" cy="401400"/>
          </a:xfrm>
          <a:prstGeom prst="rect">
            <a:avLst/>
          </a:prstGeom>
          <a:solidFill>
            <a:srgbClr val="f4f6fb"/>
          </a:solidFill>
          <a:ln w="10080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36" name="Text 23"/>
          <p:cNvSpPr/>
          <p:nvPr/>
        </p:nvSpPr>
        <p:spPr>
          <a:xfrm>
            <a:off x="6108120" y="3657600"/>
            <a:ext cx="265068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2857a7"/>
                </a:solidFill>
                <a:effectLst/>
                <a:uFillTx/>
                <a:latin typeface="Calibri"/>
                <a:ea typeface="Calibri"/>
              </a:rPr>
              <a:t>coupons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24"/>
          <p:cNvSpPr/>
          <p:nvPr/>
        </p:nvSpPr>
        <p:spPr>
          <a:xfrm>
            <a:off x="6108120" y="3858840"/>
            <a:ext cx="265068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7b8bb2"/>
                </a:solidFill>
                <a:effectLst/>
                <a:uFillTx/>
                <a:latin typeface="Calibri"/>
                <a:ea typeface="Calibri"/>
              </a:rPr>
              <a:t>Descuentos por código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25"/>
          <p:cNvSpPr/>
          <p:nvPr/>
        </p:nvSpPr>
        <p:spPr>
          <a:xfrm>
            <a:off x="5989320" y="4133160"/>
            <a:ext cx="2787840" cy="401400"/>
          </a:xfrm>
          <a:prstGeom prst="rect">
            <a:avLst/>
          </a:prstGeom>
          <a:solidFill>
            <a:srgbClr val="f4f6fb"/>
          </a:solidFill>
          <a:ln w="10080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39" name="Text 26"/>
          <p:cNvSpPr/>
          <p:nvPr/>
        </p:nvSpPr>
        <p:spPr>
          <a:xfrm>
            <a:off x="6108120" y="4133160"/>
            <a:ext cx="265068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2857a7"/>
                </a:solidFill>
                <a:effectLst/>
                <a:uFillTx/>
                <a:latin typeface="Calibri"/>
                <a:ea typeface="Calibri"/>
              </a:rPr>
              <a:t>users / roles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27"/>
          <p:cNvSpPr/>
          <p:nvPr/>
        </p:nvSpPr>
        <p:spPr>
          <a:xfrm>
            <a:off x="6108120" y="4334400"/>
            <a:ext cx="265068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7b8bb2"/>
                </a:solidFill>
                <a:effectLst/>
                <a:uFillTx/>
                <a:latin typeface="Calibri"/>
                <a:ea typeface="Calibri"/>
              </a:rPr>
              <a:t>Administradores y permisos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Shape 0"/>
          <p:cNvSpPr/>
          <p:nvPr/>
        </p:nvSpPr>
        <p:spPr>
          <a:xfrm>
            <a:off x="365760" y="201240"/>
            <a:ext cx="53640" cy="501840"/>
          </a:xfrm>
          <a:prstGeom prst="rect">
            <a:avLst/>
          </a:prstGeom>
          <a:solidFill>
            <a:srgbClr val="c9973a"/>
          </a:solidFill>
          <a:ln w="12600">
            <a:solidFill>
              <a:srgbClr val="c997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42" name="Text 1"/>
          <p:cNvSpPr/>
          <p:nvPr/>
        </p:nvSpPr>
        <p:spPr>
          <a:xfrm>
            <a:off x="502920" y="164520"/>
            <a:ext cx="831996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API REST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2"/>
          <p:cNvSpPr/>
          <p:nvPr/>
        </p:nvSpPr>
        <p:spPr>
          <a:xfrm>
            <a:off x="365760" y="777240"/>
            <a:ext cx="8412480" cy="360"/>
          </a:xfrm>
          <a:prstGeom prst="line">
            <a:avLst/>
          </a:prstGeom>
          <a:ln w="15120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44" name="Shape 3"/>
          <p:cNvSpPr/>
          <p:nvPr/>
        </p:nvSpPr>
        <p:spPr>
          <a:xfrm>
            <a:off x="0" y="4892040"/>
            <a:ext cx="9142920" cy="250560"/>
          </a:xfrm>
          <a:prstGeom prst="rect">
            <a:avLst/>
          </a:prstGeom>
          <a:solidFill>
            <a:srgbClr val="1a2744"/>
          </a:solidFill>
          <a:ln w="126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45" name="Text 4"/>
          <p:cNvSpPr/>
          <p:nvPr/>
        </p:nvSpPr>
        <p:spPr>
          <a:xfrm>
            <a:off x="274320" y="4892040"/>
            <a:ext cx="6399720" cy="25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abbdd"/>
                </a:solidFill>
                <a:effectLst/>
                <a:uFillTx/>
                <a:latin typeface="Calibri"/>
                <a:ea typeface="Calibri"/>
              </a:rPr>
              <a:t>Clon de Agapea · Richard &amp; Tomás · 2026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5"/>
          <p:cNvSpPr/>
          <p:nvPr/>
        </p:nvSpPr>
        <p:spPr>
          <a:xfrm>
            <a:off x="8595360" y="4892040"/>
            <a:ext cx="456120" cy="25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abbdd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6"/>
          <p:cNvSpPr/>
          <p:nvPr/>
        </p:nvSpPr>
        <p:spPr>
          <a:xfrm>
            <a:off x="365760" y="914400"/>
            <a:ext cx="393084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Principios de Diseño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7"/>
          <p:cNvSpPr/>
          <p:nvPr/>
        </p:nvSpPr>
        <p:spPr>
          <a:xfrm>
            <a:off x="365760" y="1280160"/>
            <a:ext cx="4022280" cy="182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a2744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Prefijo uniforme: /api/v1/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a2744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Verbos HTTP estándar: GET · POST · PUT · DELETE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a2744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Respuestas JSON + paginación con objeto meta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a2744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Autenticación stateless: Bearer Token (Sanctum)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a2744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Sin estado en servidor entre peticiones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8"/>
          <p:cNvSpPr/>
          <p:nvPr/>
        </p:nvSpPr>
        <p:spPr>
          <a:xfrm>
            <a:off x="4663440" y="914400"/>
            <a:ext cx="41137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Endpoints Destacados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50" name="Table 0"/>
          <p:cNvGraphicFramePr/>
          <p:nvPr/>
        </p:nvGraphicFramePr>
        <p:xfrm>
          <a:off x="4617720" y="1298520"/>
          <a:ext cx="4160160" cy="2468880"/>
        </p:xfrm>
        <a:graphic>
          <a:graphicData uri="http://schemas.openxmlformats.org/drawingml/2006/table">
            <a:tbl>
              <a:tblPr/>
              <a:tblGrid>
                <a:gridCol w="777240"/>
                <a:gridCol w="2331720"/>
                <a:gridCol w="1051560"/>
              </a:tblGrid>
              <a:tr h="2743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Método</a:t>
                      </a:r>
                      <a:endParaRPr lang="es-E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8640">
                      <a:solidFill>
                        <a:srgbClr val="e8edf7"/>
                      </a:solidFill>
                      <a:prstDash val="solid"/>
                    </a:lnL>
                    <a:lnR w="8640">
                      <a:solidFill>
                        <a:srgbClr val="e8edf7"/>
                      </a:solidFill>
                      <a:prstDash val="solid"/>
                    </a:lnR>
                    <a:lnT w="8640">
                      <a:solidFill>
                        <a:srgbClr val="e8edf7"/>
                      </a:solidFill>
                      <a:prstDash val="solid"/>
                    </a:lnT>
                    <a:lnB w="8640">
                      <a:solidFill>
                        <a:srgbClr val="e8edf7"/>
                      </a:solidFill>
                      <a:prstDash val="soli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URL</a:t>
                      </a:r>
                      <a:endParaRPr lang="es-E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8640">
                      <a:solidFill>
                        <a:srgbClr val="e8edf7"/>
                      </a:solidFill>
                      <a:prstDash val="solid"/>
                    </a:lnL>
                    <a:lnR w="8640">
                      <a:solidFill>
                        <a:srgbClr val="e8edf7"/>
                      </a:solidFill>
                      <a:prstDash val="solid"/>
                    </a:lnR>
                    <a:lnT w="8640">
                      <a:solidFill>
                        <a:srgbClr val="e8edf7"/>
                      </a:solidFill>
                      <a:prstDash val="solid"/>
                    </a:lnT>
                    <a:lnB w="8640">
                      <a:solidFill>
                        <a:srgbClr val="e8edf7"/>
                      </a:solidFill>
                      <a:prstDash val="soli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Auth</a:t>
                      </a:r>
                      <a:endParaRPr lang="es-E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8640">
                      <a:solidFill>
                        <a:srgbClr val="e8edf7"/>
                      </a:solidFill>
                      <a:prstDash val="solid"/>
                    </a:lnL>
                    <a:lnR w="8640">
                      <a:solidFill>
                        <a:srgbClr val="e8edf7"/>
                      </a:solidFill>
                      <a:prstDash val="solid"/>
                    </a:lnR>
                    <a:lnT w="8640">
                      <a:solidFill>
                        <a:srgbClr val="e8edf7"/>
                      </a:solidFill>
                      <a:prstDash val="solid"/>
                    </a:lnT>
                    <a:lnB w="8640">
                      <a:solidFill>
                        <a:srgbClr val="e8edf7"/>
                      </a:solidFill>
                      <a:prstDash val="solid"/>
                    </a:lnB>
                    <a:solidFill>
                      <a:srgbClr val="1a2744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POST</a:t>
                      </a:r>
                      <a:endParaRPr lang="es-E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8640">
                      <a:solidFill>
                        <a:srgbClr val="e8edf7"/>
                      </a:solidFill>
                      <a:prstDash val="solid"/>
                    </a:lnL>
                    <a:lnR w="8640">
                      <a:solidFill>
                        <a:srgbClr val="e8edf7"/>
                      </a:solidFill>
                      <a:prstDash val="solid"/>
                    </a:lnR>
                    <a:lnT w="8640">
                      <a:solidFill>
                        <a:srgbClr val="e8edf7"/>
                      </a:solidFill>
                      <a:prstDash val="solid"/>
                    </a:lnT>
                    <a:lnB w="8640">
                      <a:solidFill>
                        <a:srgbClr val="e8edf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/api/v1/auth/login</a:t>
                      </a:r>
                      <a:endParaRPr lang="es-E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8640">
                      <a:solidFill>
                        <a:srgbClr val="e8edf7"/>
                      </a:solidFill>
                      <a:prstDash val="solid"/>
                    </a:lnL>
                    <a:lnR w="8640">
                      <a:solidFill>
                        <a:srgbClr val="e8edf7"/>
                      </a:solidFill>
                      <a:prstDash val="solid"/>
                    </a:lnR>
                    <a:lnT w="8640">
                      <a:solidFill>
                        <a:srgbClr val="e8edf7"/>
                      </a:solidFill>
                      <a:prstDash val="solid"/>
                    </a:lnT>
                    <a:lnB w="8640">
                      <a:solidFill>
                        <a:srgbClr val="e8edf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No</a:t>
                      </a:r>
                      <a:endParaRPr lang="es-E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8640">
                      <a:solidFill>
                        <a:srgbClr val="e8edf7"/>
                      </a:solidFill>
                      <a:prstDash val="solid"/>
                    </a:lnL>
                    <a:lnR w="8640">
                      <a:solidFill>
                        <a:srgbClr val="e8edf7"/>
                      </a:solidFill>
                      <a:prstDash val="solid"/>
                    </a:lnR>
                    <a:lnT w="8640">
                      <a:solidFill>
                        <a:srgbClr val="e8edf7"/>
                      </a:solidFill>
                      <a:prstDash val="solid"/>
                    </a:lnT>
                    <a:lnB w="8640">
                      <a:solidFill>
                        <a:srgbClr val="e8edf7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GET</a:t>
                      </a:r>
                      <a:endParaRPr lang="es-E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8640">
                      <a:solidFill>
                        <a:srgbClr val="e8edf7"/>
                      </a:solidFill>
                      <a:prstDash val="solid"/>
                    </a:lnL>
                    <a:lnR w="8640">
                      <a:solidFill>
                        <a:srgbClr val="e8edf7"/>
                      </a:solidFill>
                      <a:prstDash val="solid"/>
                    </a:lnR>
                    <a:lnT w="8640">
                      <a:solidFill>
                        <a:srgbClr val="e8edf7"/>
                      </a:solidFill>
                      <a:prstDash val="solid"/>
                    </a:lnT>
                    <a:lnB w="8640">
                      <a:solidFill>
                        <a:srgbClr val="e8edf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/api/v1/books</a:t>
                      </a:r>
                      <a:endParaRPr lang="es-E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8640">
                      <a:solidFill>
                        <a:srgbClr val="e8edf7"/>
                      </a:solidFill>
                      <a:prstDash val="solid"/>
                    </a:lnL>
                    <a:lnR w="8640">
                      <a:solidFill>
                        <a:srgbClr val="e8edf7"/>
                      </a:solidFill>
                      <a:prstDash val="solid"/>
                    </a:lnR>
                    <a:lnT w="8640">
                      <a:solidFill>
                        <a:srgbClr val="e8edf7"/>
                      </a:solidFill>
                      <a:prstDash val="solid"/>
                    </a:lnT>
                    <a:lnB w="8640">
                      <a:solidFill>
                        <a:srgbClr val="e8edf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No</a:t>
                      </a:r>
                      <a:endParaRPr lang="es-E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8640">
                      <a:solidFill>
                        <a:srgbClr val="e8edf7"/>
                      </a:solidFill>
                      <a:prstDash val="solid"/>
                    </a:lnL>
                    <a:lnR w="8640">
                      <a:solidFill>
                        <a:srgbClr val="e8edf7"/>
                      </a:solidFill>
                      <a:prstDash val="solid"/>
                    </a:lnR>
                    <a:lnT w="8640">
                      <a:solidFill>
                        <a:srgbClr val="e8edf7"/>
                      </a:solidFill>
                      <a:prstDash val="solid"/>
                    </a:lnT>
                    <a:lnB w="8640">
                      <a:solidFill>
                        <a:srgbClr val="e8edf7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GET</a:t>
                      </a:r>
                      <a:endParaRPr lang="es-E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8640">
                      <a:solidFill>
                        <a:srgbClr val="e8edf7"/>
                      </a:solidFill>
                      <a:prstDash val="solid"/>
                    </a:lnL>
                    <a:lnR w="8640">
                      <a:solidFill>
                        <a:srgbClr val="e8edf7"/>
                      </a:solidFill>
                      <a:prstDash val="solid"/>
                    </a:lnR>
                    <a:lnT w="8640">
                      <a:solidFill>
                        <a:srgbClr val="e8edf7"/>
                      </a:solidFill>
                      <a:prstDash val="solid"/>
                    </a:lnT>
                    <a:lnB w="8640">
                      <a:solidFill>
                        <a:srgbClr val="e8edf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/api/v1/books/{id}</a:t>
                      </a:r>
                      <a:endParaRPr lang="es-E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8640">
                      <a:solidFill>
                        <a:srgbClr val="e8edf7"/>
                      </a:solidFill>
                      <a:prstDash val="solid"/>
                    </a:lnL>
                    <a:lnR w="8640">
                      <a:solidFill>
                        <a:srgbClr val="e8edf7"/>
                      </a:solidFill>
                      <a:prstDash val="solid"/>
                    </a:lnR>
                    <a:lnT w="8640">
                      <a:solidFill>
                        <a:srgbClr val="e8edf7"/>
                      </a:solidFill>
                      <a:prstDash val="solid"/>
                    </a:lnT>
                    <a:lnB w="8640">
                      <a:solidFill>
                        <a:srgbClr val="e8edf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No</a:t>
                      </a:r>
                      <a:endParaRPr lang="es-E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8640">
                      <a:solidFill>
                        <a:srgbClr val="e8edf7"/>
                      </a:solidFill>
                      <a:prstDash val="solid"/>
                    </a:lnL>
                    <a:lnR w="8640">
                      <a:solidFill>
                        <a:srgbClr val="e8edf7"/>
                      </a:solidFill>
                      <a:prstDash val="solid"/>
                    </a:lnR>
                    <a:lnT w="8640">
                      <a:solidFill>
                        <a:srgbClr val="e8edf7"/>
                      </a:solidFill>
                      <a:prstDash val="solid"/>
                    </a:lnT>
                    <a:lnB w="8640">
                      <a:solidFill>
                        <a:srgbClr val="e8edf7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POST</a:t>
                      </a:r>
                      <a:endParaRPr lang="es-E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8640">
                      <a:solidFill>
                        <a:srgbClr val="e8edf7"/>
                      </a:solidFill>
                      <a:prstDash val="solid"/>
                    </a:lnL>
                    <a:lnR w="8640">
                      <a:solidFill>
                        <a:srgbClr val="e8edf7"/>
                      </a:solidFill>
                      <a:prstDash val="solid"/>
                    </a:lnR>
                    <a:lnT w="8640">
                      <a:solidFill>
                        <a:srgbClr val="e8edf7"/>
                      </a:solidFill>
                      <a:prstDash val="solid"/>
                    </a:lnT>
                    <a:lnB w="8640">
                      <a:solidFill>
                        <a:srgbClr val="e8edf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/api/v1/books</a:t>
                      </a:r>
                      <a:endParaRPr lang="es-E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8640">
                      <a:solidFill>
                        <a:srgbClr val="e8edf7"/>
                      </a:solidFill>
                      <a:prstDash val="solid"/>
                    </a:lnL>
                    <a:lnR w="8640">
                      <a:solidFill>
                        <a:srgbClr val="e8edf7"/>
                      </a:solidFill>
                      <a:prstDash val="solid"/>
                    </a:lnR>
                    <a:lnT w="8640">
                      <a:solidFill>
                        <a:srgbClr val="e8edf7"/>
                      </a:solidFill>
                      <a:prstDash val="solid"/>
                    </a:lnT>
                    <a:lnB w="8640">
                      <a:solidFill>
                        <a:srgbClr val="e8edf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Admin</a:t>
                      </a:r>
                      <a:endParaRPr lang="es-E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8640">
                      <a:solidFill>
                        <a:srgbClr val="e8edf7"/>
                      </a:solidFill>
                      <a:prstDash val="solid"/>
                    </a:lnL>
                    <a:lnR w="8640">
                      <a:solidFill>
                        <a:srgbClr val="e8edf7"/>
                      </a:solidFill>
                      <a:prstDash val="solid"/>
                    </a:lnR>
                    <a:lnT w="8640">
                      <a:solidFill>
                        <a:srgbClr val="e8edf7"/>
                      </a:solidFill>
                      <a:prstDash val="solid"/>
                    </a:lnT>
                    <a:lnB w="8640">
                      <a:solidFill>
                        <a:srgbClr val="e8edf7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PUT</a:t>
                      </a:r>
                      <a:endParaRPr lang="es-E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8640">
                      <a:solidFill>
                        <a:srgbClr val="e8edf7"/>
                      </a:solidFill>
                      <a:prstDash val="solid"/>
                    </a:lnL>
                    <a:lnR w="8640">
                      <a:solidFill>
                        <a:srgbClr val="e8edf7"/>
                      </a:solidFill>
                      <a:prstDash val="solid"/>
                    </a:lnR>
                    <a:lnT w="8640">
                      <a:solidFill>
                        <a:srgbClr val="e8edf7"/>
                      </a:solidFill>
                      <a:prstDash val="solid"/>
                    </a:lnT>
                    <a:lnB w="8640">
                      <a:solidFill>
                        <a:srgbClr val="e8edf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/api/v1/books/{id}</a:t>
                      </a:r>
                      <a:endParaRPr lang="es-E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8640">
                      <a:solidFill>
                        <a:srgbClr val="e8edf7"/>
                      </a:solidFill>
                      <a:prstDash val="solid"/>
                    </a:lnL>
                    <a:lnR w="8640">
                      <a:solidFill>
                        <a:srgbClr val="e8edf7"/>
                      </a:solidFill>
                      <a:prstDash val="solid"/>
                    </a:lnR>
                    <a:lnT w="8640">
                      <a:solidFill>
                        <a:srgbClr val="e8edf7"/>
                      </a:solidFill>
                      <a:prstDash val="solid"/>
                    </a:lnT>
                    <a:lnB w="8640">
                      <a:solidFill>
                        <a:srgbClr val="e8edf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Admin</a:t>
                      </a:r>
                      <a:endParaRPr lang="es-E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8640">
                      <a:solidFill>
                        <a:srgbClr val="e8edf7"/>
                      </a:solidFill>
                      <a:prstDash val="solid"/>
                    </a:lnL>
                    <a:lnR w="8640">
                      <a:solidFill>
                        <a:srgbClr val="e8edf7"/>
                      </a:solidFill>
                      <a:prstDash val="solid"/>
                    </a:lnR>
                    <a:lnT w="8640">
                      <a:solidFill>
                        <a:srgbClr val="e8edf7"/>
                      </a:solidFill>
                      <a:prstDash val="solid"/>
                    </a:lnT>
                    <a:lnB w="8640">
                      <a:solidFill>
                        <a:srgbClr val="e8edf7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POST</a:t>
                      </a:r>
                      <a:endParaRPr lang="es-E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8640">
                      <a:solidFill>
                        <a:srgbClr val="e8edf7"/>
                      </a:solidFill>
                      <a:prstDash val="solid"/>
                    </a:lnL>
                    <a:lnR w="8640">
                      <a:solidFill>
                        <a:srgbClr val="e8edf7"/>
                      </a:solidFill>
                      <a:prstDash val="solid"/>
                    </a:lnR>
                    <a:lnT w="8640">
                      <a:solidFill>
                        <a:srgbClr val="e8edf7"/>
                      </a:solidFill>
                      <a:prstDash val="solid"/>
                    </a:lnT>
                    <a:lnB w="8640">
                      <a:solidFill>
                        <a:srgbClr val="e8edf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/api/v1/orders</a:t>
                      </a:r>
                      <a:endParaRPr lang="es-E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8640">
                      <a:solidFill>
                        <a:srgbClr val="e8edf7"/>
                      </a:solidFill>
                      <a:prstDash val="solid"/>
                    </a:lnL>
                    <a:lnR w="8640">
                      <a:solidFill>
                        <a:srgbClr val="e8edf7"/>
                      </a:solidFill>
                      <a:prstDash val="solid"/>
                    </a:lnR>
                    <a:lnT w="8640">
                      <a:solidFill>
                        <a:srgbClr val="e8edf7"/>
                      </a:solidFill>
                      <a:prstDash val="solid"/>
                    </a:lnT>
                    <a:lnB w="8640">
                      <a:solidFill>
                        <a:srgbClr val="e8edf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Cliente</a:t>
                      </a:r>
                      <a:endParaRPr lang="es-E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8640">
                      <a:solidFill>
                        <a:srgbClr val="e8edf7"/>
                      </a:solidFill>
                      <a:prstDash val="solid"/>
                    </a:lnL>
                    <a:lnR w="8640">
                      <a:solidFill>
                        <a:srgbClr val="e8edf7"/>
                      </a:solidFill>
                      <a:prstDash val="solid"/>
                    </a:lnR>
                    <a:lnT w="8640">
                      <a:solidFill>
                        <a:srgbClr val="e8edf7"/>
                      </a:solidFill>
                      <a:prstDash val="solid"/>
                    </a:lnT>
                    <a:lnB w="8640">
                      <a:solidFill>
                        <a:srgbClr val="e8edf7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GET</a:t>
                      </a:r>
                      <a:endParaRPr lang="es-E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8640">
                      <a:solidFill>
                        <a:srgbClr val="e8edf7"/>
                      </a:solidFill>
                      <a:prstDash val="solid"/>
                    </a:lnL>
                    <a:lnR w="8640">
                      <a:solidFill>
                        <a:srgbClr val="e8edf7"/>
                      </a:solidFill>
                      <a:prstDash val="solid"/>
                    </a:lnR>
                    <a:lnT w="8640">
                      <a:solidFill>
                        <a:srgbClr val="e8edf7"/>
                      </a:solidFill>
                      <a:prstDash val="solid"/>
                    </a:lnT>
                    <a:lnB w="8640">
                      <a:solidFill>
                        <a:srgbClr val="e8edf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/api/v1/favorites</a:t>
                      </a:r>
                      <a:endParaRPr lang="es-E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8640">
                      <a:solidFill>
                        <a:srgbClr val="e8edf7"/>
                      </a:solidFill>
                      <a:prstDash val="solid"/>
                    </a:lnL>
                    <a:lnR w="8640">
                      <a:solidFill>
                        <a:srgbClr val="e8edf7"/>
                      </a:solidFill>
                      <a:prstDash val="solid"/>
                    </a:lnR>
                    <a:lnT w="8640">
                      <a:solidFill>
                        <a:srgbClr val="e8edf7"/>
                      </a:solidFill>
                      <a:prstDash val="solid"/>
                    </a:lnT>
                    <a:lnB w="8640">
                      <a:solidFill>
                        <a:srgbClr val="e8edf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Cliente</a:t>
                      </a:r>
                      <a:endParaRPr lang="es-E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8640">
                      <a:solidFill>
                        <a:srgbClr val="e8edf7"/>
                      </a:solidFill>
                      <a:prstDash val="solid"/>
                    </a:lnL>
                    <a:lnR w="8640">
                      <a:solidFill>
                        <a:srgbClr val="e8edf7"/>
                      </a:solidFill>
                      <a:prstDash val="solid"/>
                    </a:lnR>
                    <a:lnT w="8640">
                      <a:solidFill>
                        <a:srgbClr val="e8edf7"/>
                      </a:solidFill>
                      <a:prstDash val="solid"/>
                    </a:lnT>
                    <a:lnB w="8640">
                      <a:solidFill>
                        <a:srgbClr val="e8edf7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POST</a:t>
                      </a:r>
                      <a:endParaRPr lang="es-E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8640">
                      <a:solidFill>
                        <a:srgbClr val="e8edf7"/>
                      </a:solidFill>
                      <a:prstDash val="solid"/>
                    </a:lnL>
                    <a:lnR w="8640">
                      <a:solidFill>
                        <a:srgbClr val="e8edf7"/>
                      </a:solidFill>
                      <a:prstDash val="solid"/>
                    </a:lnR>
                    <a:lnT w="8640">
                      <a:solidFill>
                        <a:srgbClr val="e8edf7"/>
                      </a:solidFill>
                      <a:prstDash val="solid"/>
                    </a:lnT>
                    <a:lnB w="8640">
                      <a:solidFill>
                        <a:srgbClr val="e8edf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/api/v1/reviews</a:t>
                      </a:r>
                      <a:endParaRPr lang="es-E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8640">
                      <a:solidFill>
                        <a:srgbClr val="e8edf7"/>
                      </a:solidFill>
                      <a:prstDash val="solid"/>
                    </a:lnL>
                    <a:lnR w="8640">
                      <a:solidFill>
                        <a:srgbClr val="e8edf7"/>
                      </a:solidFill>
                      <a:prstDash val="solid"/>
                    </a:lnR>
                    <a:lnT w="8640">
                      <a:solidFill>
                        <a:srgbClr val="e8edf7"/>
                      </a:solidFill>
                      <a:prstDash val="solid"/>
                    </a:lnT>
                    <a:lnB w="8640">
                      <a:solidFill>
                        <a:srgbClr val="e8edf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Cliente</a:t>
                      </a:r>
                      <a:endParaRPr lang="es-E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8640">
                      <a:solidFill>
                        <a:srgbClr val="e8edf7"/>
                      </a:solidFill>
                      <a:prstDash val="solid"/>
                    </a:lnL>
                    <a:lnR w="8640">
                      <a:solidFill>
                        <a:srgbClr val="e8edf7"/>
                      </a:solidFill>
                      <a:prstDash val="solid"/>
                    </a:lnR>
                    <a:lnT w="8640">
                      <a:solidFill>
                        <a:srgbClr val="e8edf7"/>
                      </a:solidFill>
                      <a:prstDash val="solid"/>
                    </a:lnT>
                    <a:lnB w="8640">
                      <a:solidFill>
                        <a:srgbClr val="e8edf7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Shape 0"/>
          <p:cNvSpPr/>
          <p:nvPr/>
        </p:nvSpPr>
        <p:spPr>
          <a:xfrm>
            <a:off x="365760" y="201240"/>
            <a:ext cx="53640" cy="501840"/>
          </a:xfrm>
          <a:prstGeom prst="rect">
            <a:avLst/>
          </a:prstGeom>
          <a:solidFill>
            <a:srgbClr val="c9973a"/>
          </a:solidFill>
          <a:ln w="12600">
            <a:solidFill>
              <a:srgbClr val="c997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52" name="Text 1"/>
          <p:cNvSpPr/>
          <p:nvPr/>
        </p:nvSpPr>
        <p:spPr>
          <a:xfrm>
            <a:off x="502920" y="164520"/>
            <a:ext cx="831996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Funcionalidades Clave — Front Office (MPA)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2"/>
          <p:cNvSpPr/>
          <p:nvPr/>
        </p:nvSpPr>
        <p:spPr>
          <a:xfrm>
            <a:off x="365760" y="777240"/>
            <a:ext cx="8412480" cy="360"/>
          </a:xfrm>
          <a:prstGeom prst="line">
            <a:avLst/>
          </a:prstGeom>
          <a:ln w="15120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54" name="Shape 3"/>
          <p:cNvSpPr/>
          <p:nvPr/>
        </p:nvSpPr>
        <p:spPr>
          <a:xfrm>
            <a:off x="0" y="4892040"/>
            <a:ext cx="9142920" cy="250560"/>
          </a:xfrm>
          <a:prstGeom prst="rect">
            <a:avLst/>
          </a:prstGeom>
          <a:solidFill>
            <a:srgbClr val="1a2744"/>
          </a:solidFill>
          <a:ln w="126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55" name="Text 4"/>
          <p:cNvSpPr/>
          <p:nvPr/>
        </p:nvSpPr>
        <p:spPr>
          <a:xfrm>
            <a:off x="274320" y="4892040"/>
            <a:ext cx="6399720" cy="25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abbdd"/>
                </a:solidFill>
                <a:effectLst/>
                <a:uFillTx/>
                <a:latin typeface="Calibri"/>
                <a:ea typeface="Calibri"/>
              </a:rPr>
              <a:t>Clon de Agapea · Richard &amp; Tomás · 2026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5"/>
          <p:cNvSpPr/>
          <p:nvPr/>
        </p:nvSpPr>
        <p:spPr>
          <a:xfrm>
            <a:off x="8595360" y="4892040"/>
            <a:ext cx="456120" cy="25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abbdd"/>
                </a:solidFill>
                <a:effectLst/>
                <a:uFillTx/>
                <a:latin typeface="Calibri"/>
                <a:ea typeface="Calibri"/>
              </a:rPr>
              <a:t>11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6"/>
          <p:cNvSpPr/>
          <p:nvPr/>
        </p:nvSpPr>
        <p:spPr>
          <a:xfrm>
            <a:off x="365760" y="914400"/>
            <a:ext cx="2742120" cy="346320"/>
          </a:xfrm>
          <a:prstGeom prst="rect">
            <a:avLst/>
          </a:prstGeom>
          <a:solidFill>
            <a:srgbClr val="1a2744"/>
          </a:solidFill>
          <a:ln w="126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58" name="Text 7"/>
          <p:cNvSpPr/>
          <p:nvPr/>
        </p:nvSpPr>
        <p:spPr>
          <a:xfrm>
            <a:off x="365760" y="914400"/>
            <a:ext cx="27421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Catálogo y Búsqueda</a:t>
            </a:r>
            <a:endParaRPr lang="es-E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8"/>
          <p:cNvSpPr/>
          <p:nvPr/>
        </p:nvSpPr>
        <p:spPr>
          <a:xfrm>
            <a:off x="365760" y="1261800"/>
            <a:ext cx="2742120" cy="2559240"/>
          </a:xfrm>
          <a:prstGeom prst="rect">
            <a:avLst/>
          </a:prstGeom>
          <a:solidFill>
            <a:srgbClr val="f4f6fb"/>
          </a:solidFill>
          <a:ln w="10080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60" name="Shape 9"/>
          <p:cNvSpPr/>
          <p:nvPr/>
        </p:nvSpPr>
        <p:spPr>
          <a:xfrm>
            <a:off x="502920" y="1481400"/>
            <a:ext cx="90360" cy="90360"/>
          </a:xfrm>
          <a:prstGeom prst="ellipse">
            <a:avLst/>
          </a:prstGeom>
          <a:solidFill>
            <a:srgbClr val="c9973a"/>
          </a:solidFill>
          <a:ln w="12600">
            <a:solidFill>
              <a:srgbClr val="c997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61" name="Text 10"/>
          <p:cNvSpPr/>
          <p:nvPr/>
        </p:nvSpPr>
        <p:spPr>
          <a:xfrm>
            <a:off x="658440" y="1417320"/>
            <a:ext cx="233064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Búsqueda con debounce 400 ms (fetch por tecla cancelado)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11"/>
          <p:cNvSpPr/>
          <p:nvPr/>
        </p:nvSpPr>
        <p:spPr>
          <a:xfrm>
            <a:off x="502920" y="2258640"/>
            <a:ext cx="90360" cy="90360"/>
          </a:xfrm>
          <a:prstGeom prst="ellipse">
            <a:avLst/>
          </a:prstGeom>
          <a:solidFill>
            <a:srgbClr val="c9973a"/>
          </a:solidFill>
          <a:ln w="12600">
            <a:solidFill>
              <a:srgbClr val="c997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63" name="Text 12"/>
          <p:cNvSpPr/>
          <p:nvPr/>
        </p:nvSpPr>
        <p:spPr>
          <a:xfrm>
            <a:off x="658440" y="2194560"/>
            <a:ext cx="233064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Filtro por categoría, precio y orden alfabético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13"/>
          <p:cNvSpPr/>
          <p:nvPr/>
        </p:nvSpPr>
        <p:spPr>
          <a:xfrm>
            <a:off x="502920" y="3035880"/>
            <a:ext cx="90360" cy="90360"/>
          </a:xfrm>
          <a:prstGeom prst="ellipse">
            <a:avLst/>
          </a:prstGeom>
          <a:solidFill>
            <a:srgbClr val="c9973a"/>
          </a:solidFill>
          <a:ln w="12600">
            <a:solidFill>
              <a:srgbClr val="c997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65" name="Text 14"/>
          <p:cNvSpPr/>
          <p:nvPr/>
        </p:nvSpPr>
        <p:spPr>
          <a:xfrm>
            <a:off x="658440" y="2971800"/>
            <a:ext cx="233064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Paginación dinámica generada desde meta del backend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15"/>
          <p:cNvSpPr/>
          <p:nvPr/>
        </p:nvSpPr>
        <p:spPr>
          <a:xfrm>
            <a:off x="3246120" y="914400"/>
            <a:ext cx="2742120" cy="346320"/>
          </a:xfrm>
          <a:prstGeom prst="rect">
            <a:avLst/>
          </a:prstGeom>
          <a:solidFill>
            <a:srgbClr val="1a2744"/>
          </a:solidFill>
          <a:ln w="126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67" name="Text 16"/>
          <p:cNvSpPr/>
          <p:nvPr/>
        </p:nvSpPr>
        <p:spPr>
          <a:xfrm>
            <a:off x="3246120" y="914400"/>
            <a:ext cx="27421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Carrito y Pedidos</a:t>
            </a:r>
            <a:endParaRPr lang="es-E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17"/>
          <p:cNvSpPr/>
          <p:nvPr/>
        </p:nvSpPr>
        <p:spPr>
          <a:xfrm>
            <a:off x="3246120" y="1261800"/>
            <a:ext cx="2742120" cy="2559240"/>
          </a:xfrm>
          <a:prstGeom prst="rect">
            <a:avLst/>
          </a:prstGeom>
          <a:solidFill>
            <a:srgbClr val="f4f6fb"/>
          </a:solidFill>
          <a:ln w="10080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69" name="Shape 18"/>
          <p:cNvSpPr/>
          <p:nvPr/>
        </p:nvSpPr>
        <p:spPr>
          <a:xfrm>
            <a:off x="3383280" y="1481400"/>
            <a:ext cx="90360" cy="90360"/>
          </a:xfrm>
          <a:prstGeom prst="ellipse">
            <a:avLst/>
          </a:prstGeom>
          <a:solidFill>
            <a:srgbClr val="c9973a"/>
          </a:solidFill>
          <a:ln w="12600">
            <a:solidFill>
              <a:srgbClr val="c997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70" name="Text 19"/>
          <p:cNvSpPr/>
          <p:nvPr/>
        </p:nvSpPr>
        <p:spPr>
          <a:xfrm>
            <a:off x="3538800" y="1417320"/>
            <a:ext cx="233064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Persistencia dual: localStorage + sincronización con BD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20"/>
          <p:cNvSpPr/>
          <p:nvPr/>
        </p:nvSpPr>
        <p:spPr>
          <a:xfrm>
            <a:off x="3383280" y="2258640"/>
            <a:ext cx="90360" cy="90360"/>
          </a:xfrm>
          <a:prstGeom prst="ellipse">
            <a:avLst/>
          </a:prstGeom>
          <a:solidFill>
            <a:srgbClr val="c9973a"/>
          </a:solidFill>
          <a:ln w="12600">
            <a:solidFill>
              <a:srgbClr val="c997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72" name="Text 21"/>
          <p:cNvSpPr/>
          <p:nvPr/>
        </p:nvSpPr>
        <p:spPr>
          <a:xfrm>
            <a:off x="3538800" y="2194560"/>
            <a:ext cx="233064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Gestión completa: añadir, modificar cantidad, eliminar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22"/>
          <p:cNvSpPr/>
          <p:nvPr/>
        </p:nvSpPr>
        <p:spPr>
          <a:xfrm>
            <a:off x="3383280" y="3035880"/>
            <a:ext cx="90360" cy="90360"/>
          </a:xfrm>
          <a:prstGeom prst="ellipse">
            <a:avLst/>
          </a:prstGeom>
          <a:solidFill>
            <a:srgbClr val="c9973a"/>
          </a:solidFill>
          <a:ln w="12600">
            <a:solidFill>
              <a:srgbClr val="c997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74" name="Text 23"/>
          <p:cNvSpPr/>
          <p:nvPr/>
        </p:nvSpPr>
        <p:spPr>
          <a:xfrm>
            <a:off x="3538800" y="2971800"/>
            <a:ext cx="233064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Aplicación de cupones de descuento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24"/>
          <p:cNvSpPr/>
          <p:nvPr/>
        </p:nvSpPr>
        <p:spPr>
          <a:xfrm>
            <a:off x="6126480" y="914400"/>
            <a:ext cx="2742120" cy="346320"/>
          </a:xfrm>
          <a:prstGeom prst="rect">
            <a:avLst/>
          </a:prstGeom>
          <a:solidFill>
            <a:srgbClr val="1a2744"/>
          </a:solidFill>
          <a:ln w="126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76" name="Text 25"/>
          <p:cNvSpPr/>
          <p:nvPr/>
        </p:nvSpPr>
        <p:spPr>
          <a:xfrm>
            <a:off x="6126480" y="914400"/>
            <a:ext cx="27421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Usuario y Seguridad</a:t>
            </a:r>
            <a:endParaRPr lang="es-E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26"/>
          <p:cNvSpPr/>
          <p:nvPr/>
        </p:nvSpPr>
        <p:spPr>
          <a:xfrm>
            <a:off x="6126480" y="1261800"/>
            <a:ext cx="2742120" cy="2559240"/>
          </a:xfrm>
          <a:prstGeom prst="rect">
            <a:avLst/>
          </a:prstGeom>
          <a:solidFill>
            <a:srgbClr val="f4f6fb"/>
          </a:solidFill>
          <a:ln w="10080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78" name="Shape 27"/>
          <p:cNvSpPr/>
          <p:nvPr/>
        </p:nvSpPr>
        <p:spPr>
          <a:xfrm>
            <a:off x="6263640" y="1481400"/>
            <a:ext cx="90360" cy="90360"/>
          </a:xfrm>
          <a:prstGeom prst="ellipse">
            <a:avLst/>
          </a:prstGeom>
          <a:solidFill>
            <a:srgbClr val="c9973a"/>
          </a:solidFill>
          <a:ln w="12600">
            <a:solidFill>
              <a:srgbClr val="c997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79" name="Text 28"/>
          <p:cNvSpPr/>
          <p:nvPr/>
        </p:nvSpPr>
        <p:spPr>
          <a:xfrm>
            <a:off x="6419160" y="1417320"/>
            <a:ext cx="233064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Registro, login y cierre de sesión con token Sanctum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29"/>
          <p:cNvSpPr/>
          <p:nvPr/>
        </p:nvSpPr>
        <p:spPr>
          <a:xfrm>
            <a:off x="6263640" y="2258640"/>
            <a:ext cx="90360" cy="90360"/>
          </a:xfrm>
          <a:prstGeom prst="ellipse">
            <a:avLst/>
          </a:prstGeom>
          <a:solidFill>
            <a:srgbClr val="c9973a"/>
          </a:solidFill>
          <a:ln w="12600">
            <a:solidFill>
              <a:srgbClr val="c997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81" name="Text 30"/>
          <p:cNvSpPr/>
          <p:nvPr/>
        </p:nvSpPr>
        <p:spPr>
          <a:xfrm>
            <a:off x="6419160" y="2194560"/>
            <a:ext cx="233064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Favoritos y reseñas de libros autenticadas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31"/>
          <p:cNvSpPr/>
          <p:nvPr/>
        </p:nvSpPr>
        <p:spPr>
          <a:xfrm>
            <a:off x="6263640" y="3035880"/>
            <a:ext cx="90360" cy="90360"/>
          </a:xfrm>
          <a:prstGeom prst="ellipse">
            <a:avLst/>
          </a:prstGeom>
          <a:solidFill>
            <a:srgbClr val="c9973a"/>
          </a:solidFill>
          <a:ln w="12600">
            <a:solidFill>
              <a:srgbClr val="c997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83" name="Text 32"/>
          <p:cNvSpPr/>
          <p:nvPr/>
        </p:nvSpPr>
        <p:spPr>
          <a:xfrm>
            <a:off x="6419160" y="2971800"/>
            <a:ext cx="233064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Formulario de contacto con validación JS + Laravel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Shape 0"/>
          <p:cNvSpPr/>
          <p:nvPr/>
        </p:nvSpPr>
        <p:spPr>
          <a:xfrm>
            <a:off x="365760" y="201240"/>
            <a:ext cx="53640" cy="501840"/>
          </a:xfrm>
          <a:prstGeom prst="rect">
            <a:avLst/>
          </a:prstGeom>
          <a:solidFill>
            <a:srgbClr val="c9973a"/>
          </a:solidFill>
          <a:ln w="12600">
            <a:solidFill>
              <a:srgbClr val="c997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85" name="Text 1"/>
          <p:cNvSpPr/>
          <p:nvPr/>
        </p:nvSpPr>
        <p:spPr>
          <a:xfrm>
            <a:off x="502920" y="164520"/>
            <a:ext cx="831996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Funcionalidades Clave — Back Office (SPA)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2"/>
          <p:cNvSpPr/>
          <p:nvPr/>
        </p:nvSpPr>
        <p:spPr>
          <a:xfrm>
            <a:off x="365760" y="777240"/>
            <a:ext cx="8412480" cy="360"/>
          </a:xfrm>
          <a:prstGeom prst="line">
            <a:avLst/>
          </a:prstGeom>
          <a:ln w="15120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87" name="Shape 3"/>
          <p:cNvSpPr/>
          <p:nvPr/>
        </p:nvSpPr>
        <p:spPr>
          <a:xfrm>
            <a:off x="0" y="4892040"/>
            <a:ext cx="9142920" cy="250560"/>
          </a:xfrm>
          <a:prstGeom prst="rect">
            <a:avLst/>
          </a:prstGeom>
          <a:solidFill>
            <a:srgbClr val="1a2744"/>
          </a:solidFill>
          <a:ln w="126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88" name="Text 4"/>
          <p:cNvSpPr/>
          <p:nvPr/>
        </p:nvSpPr>
        <p:spPr>
          <a:xfrm>
            <a:off x="274320" y="4892040"/>
            <a:ext cx="6399720" cy="25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abbdd"/>
                </a:solidFill>
                <a:effectLst/>
                <a:uFillTx/>
                <a:latin typeface="Calibri"/>
                <a:ea typeface="Calibri"/>
              </a:rPr>
              <a:t>Clon de Agapea · Richard &amp; Tomás · 2026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5"/>
          <p:cNvSpPr/>
          <p:nvPr/>
        </p:nvSpPr>
        <p:spPr>
          <a:xfrm>
            <a:off x="8595360" y="4892040"/>
            <a:ext cx="456120" cy="25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abbdd"/>
                </a:solidFill>
                <a:effectLst/>
                <a:uFillTx/>
                <a:latin typeface="Calibri"/>
                <a:ea typeface="Calibri"/>
              </a:rPr>
              <a:t>12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6"/>
          <p:cNvSpPr/>
          <p:nvPr/>
        </p:nvSpPr>
        <p:spPr>
          <a:xfrm>
            <a:off x="365760" y="914400"/>
            <a:ext cx="475380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Panel de Administración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7"/>
          <p:cNvSpPr/>
          <p:nvPr/>
        </p:nvSpPr>
        <p:spPr>
          <a:xfrm>
            <a:off x="365760" y="1325880"/>
            <a:ext cx="4753800" cy="182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a2744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CRUD completo: libros, categorías, autores, editoriales, etiquetas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a2744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Gestión de clientes, pedidos y cupones de descuento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a2744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Visualización de reseñas y mensajes de contacto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a2744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Dashboard con estadísticas: libros totales, pedidos del mes, ingresos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a2744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Gráfica interactiva Pedidos vs Ingresos (Chart.js)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8"/>
          <p:cNvSpPr/>
          <p:nvPr/>
        </p:nvSpPr>
        <p:spPr>
          <a:xfrm>
            <a:off x="365760" y="3246120"/>
            <a:ext cx="475380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Enrutamiento SPA Propio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9"/>
          <p:cNvSpPr/>
          <p:nvPr/>
        </p:nvSpPr>
        <p:spPr>
          <a:xfrm>
            <a:off x="365760" y="3630240"/>
            <a:ext cx="475380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a2744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Router.js propio sin librerías externas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a2744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Un único index.html — componentes cargados dinámicamente sin recarga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4" name="Image 0" descr="preencoded.png"/>
          <p:cNvPicPr/>
          <p:nvPr/>
        </p:nvPicPr>
        <p:blipFill>
          <a:blip r:embed="rId1"/>
          <a:stretch/>
        </p:blipFill>
        <p:spPr>
          <a:xfrm>
            <a:off x="5303520" y="914400"/>
            <a:ext cx="3519360" cy="2650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Shape 0"/>
          <p:cNvSpPr/>
          <p:nvPr/>
        </p:nvSpPr>
        <p:spPr>
          <a:xfrm>
            <a:off x="365760" y="201240"/>
            <a:ext cx="53640" cy="501840"/>
          </a:xfrm>
          <a:prstGeom prst="rect">
            <a:avLst/>
          </a:prstGeom>
          <a:solidFill>
            <a:srgbClr val="c9973a"/>
          </a:solidFill>
          <a:ln w="12600">
            <a:solidFill>
              <a:srgbClr val="c997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96" name="Text 1"/>
          <p:cNvSpPr/>
          <p:nvPr/>
        </p:nvSpPr>
        <p:spPr>
          <a:xfrm>
            <a:off x="502920" y="164520"/>
            <a:ext cx="831996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Frontend — Técnicas Clave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2"/>
          <p:cNvSpPr/>
          <p:nvPr/>
        </p:nvSpPr>
        <p:spPr>
          <a:xfrm>
            <a:off x="365760" y="777240"/>
            <a:ext cx="8412480" cy="360"/>
          </a:xfrm>
          <a:prstGeom prst="line">
            <a:avLst/>
          </a:prstGeom>
          <a:ln w="15120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98" name="Shape 3"/>
          <p:cNvSpPr/>
          <p:nvPr/>
        </p:nvSpPr>
        <p:spPr>
          <a:xfrm>
            <a:off x="0" y="4892040"/>
            <a:ext cx="9142920" cy="250560"/>
          </a:xfrm>
          <a:prstGeom prst="rect">
            <a:avLst/>
          </a:prstGeom>
          <a:solidFill>
            <a:srgbClr val="1a2744"/>
          </a:solidFill>
          <a:ln w="126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99" name="Text 4"/>
          <p:cNvSpPr/>
          <p:nvPr/>
        </p:nvSpPr>
        <p:spPr>
          <a:xfrm>
            <a:off x="274320" y="4892040"/>
            <a:ext cx="6399720" cy="25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abbdd"/>
                </a:solidFill>
                <a:effectLst/>
                <a:uFillTx/>
                <a:latin typeface="Calibri"/>
                <a:ea typeface="Calibri"/>
              </a:rPr>
              <a:t>Clon de Agapea · Richard &amp; Tomás · 2026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5"/>
          <p:cNvSpPr/>
          <p:nvPr/>
        </p:nvSpPr>
        <p:spPr>
          <a:xfrm>
            <a:off x="8595360" y="4892040"/>
            <a:ext cx="456120" cy="25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abbdd"/>
                </a:solidFill>
                <a:effectLst/>
                <a:uFillTx/>
                <a:latin typeface="Calibri"/>
                <a:ea typeface="Calibri"/>
              </a:rPr>
              <a:t>13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Shape 6"/>
          <p:cNvSpPr/>
          <p:nvPr/>
        </p:nvSpPr>
        <p:spPr>
          <a:xfrm>
            <a:off x="365760" y="914400"/>
            <a:ext cx="2742120" cy="1553400"/>
          </a:xfrm>
          <a:prstGeom prst="rect">
            <a:avLst/>
          </a:prstGeom>
          <a:solidFill>
            <a:srgbClr val="f4f6fb"/>
          </a:solidFill>
          <a:ln w="10080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02" name="Shape 7"/>
          <p:cNvSpPr/>
          <p:nvPr/>
        </p:nvSpPr>
        <p:spPr>
          <a:xfrm>
            <a:off x="365760" y="914400"/>
            <a:ext cx="2742120" cy="53640"/>
          </a:xfrm>
          <a:prstGeom prst="rect">
            <a:avLst/>
          </a:prstGeom>
          <a:solidFill>
            <a:srgbClr val="c9973a"/>
          </a:solidFill>
          <a:ln w="12600">
            <a:solidFill>
              <a:srgbClr val="c997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03" name="Text 8"/>
          <p:cNvSpPr/>
          <p:nvPr/>
        </p:nvSpPr>
        <p:spPr>
          <a:xfrm>
            <a:off x="502920" y="1005840"/>
            <a:ext cx="246780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Módulos ES6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9"/>
          <p:cNvSpPr/>
          <p:nvPr/>
        </p:nvSpPr>
        <p:spPr>
          <a:xfrm>
            <a:off x="502920" y="1417320"/>
            <a:ext cx="246780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import / export — código organizado por responsabilidad sin bundler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Shape 10"/>
          <p:cNvSpPr/>
          <p:nvPr/>
        </p:nvSpPr>
        <p:spPr>
          <a:xfrm>
            <a:off x="3246120" y="914400"/>
            <a:ext cx="2742120" cy="1553400"/>
          </a:xfrm>
          <a:prstGeom prst="rect">
            <a:avLst/>
          </a:prstGeom>
          <a:solidFill>
            <a:srgbClr val="f4f6fb"/>
          </a:solidFill>
          <a:ln w="10080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06" name="Shape 11"/>
          <p:cNvSpPr/>
          <p:nvPr/>
        </p:nvSpPr>
        <p:spPr>
          <a:xfrm>
            <a:off x="3246120" y="914400"/>
            <a:ext cx="2742120" cy="53640"/>
          </a:xfrm>
          <a:prstGeom prst="rect">
            <a:avLst/>
          </a:prstGeom>
          <a:solidFill>
            <a:srgbClr val="c9973a"/>
          </a:solidFill>
          <a:ln w="12600">
            <a:solidFill>
              <a:srgbClr val="c997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07" name="Text 12"/>
          <p:cNvSpPr/>
          <p:nvPr/>
        </p:nvSpPr>
        <p:spPr>
          <a:xfrm>
            <a:off x="3383280" y="1005840"/>
            <a:ext cx="246780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fetch + async/await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13"/>
          <p:cNvSpPr/>
          <p:nvPr/>
        </p:nvSpPr>
        <p:spPr>
          <a:xfrm>
            <a:off x="3383280" y="1417320"/>
            <a:ext cx="246780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apiFetch() centraliza todas las llamadas con manejo de token y errores 401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14"/>
          <p:cNvSpPr/>
          <p:nvPr/>
        </p:nvSpPr>
        <p:spPr>
          <a:xfrm>
            <a:off x="6126480" y="914400"/>
            <a:ext cx="2742120" cy="1553400"/>
          </a:xfrm>
          <a:prstGeom prst="rect">
            <a:avLst/>
          </a:prstGeom>
          <a:solidFill>
            <a:srgbClr val="f4f6fb"/>
          </a:solidFill>
          <a:ln w="10080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10" name="Shape 15"/>
          <p:cNvSpPr/>
          <p:nvPr/>
        </p:nvSpPr>
        <p:spPr>
          <a:xfrm>
            <a:off x="6126480" y="914400"/>
            <a:ext cx="2742120" cy="53640"/>
          </a:xfrm>
          <a:prstGeom prst="rect">
            <a:avLst/>
          </a:prstGeom>
          <a:solidFill>
            <a:srgbClr val="c9973a"/>
          </a:solidFill>
          <a:ln w="12600">
            <a:solidFill>
              <a:srgbClr val="c997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11" name="Text 16"/>
          <p:cNvSpPr/>
          <p:nvPr/>
        </p:nvSpPr>
        <p:spPr>
          <a:xfrm>
            <a:off x="6263640" y="1005840"/>
            <a:ext cx="246780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Debounce 400 ms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17"/>
          <p:cNvSpPr/>
          <p:nvPr/>
        </p:nvSpPr>
        <p:spPr>
          <a:xfrm>
            <a:off x="6263640" y="1417320"/>
            <a:ext cx="246780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clearTimeout + setTimeout evita saturar la API al escribir en el buscador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18"/>
          <p:cNvSpPr/>
          <p:nvPr/>
        </p:nvSpPr>
        <p:spPr>
          <a:xfrm>
            <a:off x="365760" y="2606040"/>
            <a:ext cx="2742120" cy="1553400"/>
          </a:xfrm>
          <a:prstGeom prst="rect">
            <a:avLst/>
          </a:prstGeom>
          <a:solidFill>
            <a:srgbClr val="f4f6fb"/>
          </a:solidFill>
          <a:ln w="10080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14" name="Shape 19"/>
          <p:cNvSpPr/>
          <p:nvPr/>
        </p:nvSpPr>
        <p:spPr>
          <a:xfrm>
            <a:off x="365760" y="2606040"/>
            <a:ext cx="2742120" cy="53640"/>
          </a:xfrm>
          <a:prstGeom prst="rect">
            <a:avLst/>
          </a:prstGeom>
          <a:solidFill>
            <a:srgbClr val="c9973a"/>
          </a:solidFill>
          <a:ln w="12600">
            <a:solidFill>
              <a:srgbClr val="c997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15" name="Text 20"/>
          <p:cNvSpPr/>
          <p:nvPr/>
        </p:nvSpPr>
        <p:spPr>
          <a:xfrm>
            <a:off x="502920" y="2697480"/>
            <a:ext cx="246780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localStorage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21"/>
          <p:cNvSpPr/>
          <p:nvPr/>
        </p:nvSpPr>
        <p:spPr>
          <a:xfrm>
            <a:off x="502920" y="3108960"/>
            <a:ext cx="246780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Carrito, favoritos, token y datos de sesión persisten en el navegador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Shape 22"/>
          <p:cNvSpPr/>
          <p:nvPr/>
        </p:nvSpPr>
        <p:spPr>
          <a:xfrm>
            <a:off x="3246120" y="2606040"/>
            <a:ext cx="2742120" cy="1553400"/>
          </a:xfrm>
          <a:prstGeom prst="rect">
            <a:avLst/>
          </a:prstGeom>
          <a:solidFill>
            <a:srgbClr val="f4f6fb"/>
          </a:solidFill>
          <a:ln w="10080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18" name="Shape 23"/>
          <p:cNvSpPr/>
          <p:nvPr/>
        </p:nvSpPr>
        <p:spPr>
          <a:xfrm>
            <a:off x="3246120" y="2606040"/>
            <a:ext cx="2742120" cy="53640"/>
          </a:xfrm>
          <a:prstGeom prst="rect">
            <a:avLst/>
          </a:prstGeom>
          <a:solidFill>
            <a:srgbClr val="c9973a"/>
          </a:solidFill>
          <a:ln w="12600">
            <a:solidFill>
              <a:srgbClr val="c997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19" name="Text 24"/>
          <p:cNvSpPr/>
          <p:nvPr/>
        </p:nvSpPr>
        <p:spPr>
          <a:xfrm>
            <a:off x="3383280" y="2697480"/>
            <a:ext cx="246780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Carrito Híbrido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25"/>
          <p:cNvSpPr/>
          <p:nvPr/>
        </p:nvSpPr>
        <p:spPr>
          <a:xfrm>
            <a:off x="3383280" y="3108960"/>
            <a:ext cx="246780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Estado local en localStorage + sincronización con BD al hacer login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26"/>
          <p:cNvSpPr/>
          <p:nvPr/>
        </p:nvSpPr>
        <p:spPr>
          <a:xfrm>
            <a:off x="6126480" y="2606040"/>
            <a:ext cx="2742120" cy="1553400"/>
          </a:xfrm>
          <a:prstGeom prst="rect">
            <a:avLst/>
          </a:prstGeom>
          <a:solidFill>
            <a:srgbClr val="f4f6fb"/>
          </a:solidFill>
          <a:ln w="10080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22" name="Shape 27"/>
          <p:cNvSpPr/>
          <p:nvPr/>
        </p:nvSpPr>
        <p:spPr>
          <a:xfrm>
            <a:off x="6126480" y="2606040"/>
            <a:ext cx="2742120" cy="53640"/>
          </a:xfrm>
          <a:prstGeom prst="rect">
            <a:avLst/>
          </a:prstGeom>
          <a:solidFill>
            <a:srgbClr val="c9973a"/>
          </a:solidFill>
          <a:ln w="12600">
            <a:solidFill>
              <a:srgbClr val="c997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23" name="Text 28"/>
          <p:cNvSpPr/>
          <p:nvPr/>
        </p:nvSpPr>
        <p:spPr>
          <a:xfrm>
            <a:off x="6263640" y="2697480"/>
            <a:ext cx="246780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Validación JS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29"/>
          <p:cNvSpPr/>
          <p:nvPr/>
        </p:nvSpPr>
        <p:spPr>
          <a:xfrm>
            <a:off x="6263640" y="3108960"/>
            <a:ext cx="246780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Formularios validados en cliente antes de enviar al backend Laravel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Shape 0"/>
          <p:cNvSpPr/>
          <p:nvPr/>
        </p:nvSpPr>
        <p:spPr>
          <a:xfrm>
            <a:off x="365760" y="201240"/>
            <a:ext cx="53640" cy="501840"/>
          </a:xfrm>
          <a:prstGeom prst="rect">
            <a:avLst/>
          </a:prstGeom>
          <a:solidFill>
            <a:srgbClr val="c9973a"/>
          </a:solidFill>
          <a:ln w="12600">
            <a:solidFill>
              <a:srgbClr val="c997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26" name="Text 1"/>
          <p:cNvSpPr/>
          <p:nvPr/>
        </p:nvSpPr>
        <p:spPr>
          <a:xfrm>
            <a:off x="502920" y="164520"/>
            <a:ext cx="831996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Seguridad y Autenticación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2"/>
          <p:cNvSpPr/>
          <p:nvPr/>
        </p:nvSpPr>
        <p:spPr>
          <a:xfrm>
            <a:off x="365760" y="777240"/>
            <a:ext cx="8412480" cy="360"/>
          </a:xfrm>
          <a:prstGeom prst="line">
            <a:avLst/>
          </a:prstGeom>
          <a:ln w="15120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28" name="Shape 3"/>
          <p:cNvSpPr/>
          <p:nvPr/>
        </p:nvSpPr>
        <p:spPr>
          <a:xfrm>
            <a:off x="0" y="4892040"/>
            <a:ext cx="9142920" cy="250560"/>
          </a:xfrm>
          <a:prstGeom prst="rect">
            <a:avLst/>
          </a:prstGeom>
          <a:solidFill>
            <a:srgbClr val="1a2744"/>
          </a:solidFill>
          <a:ln w="126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29" name="Text 4"/>
          <p:cNvSpPr/>
          <p:nvPr/>
        </p:nvSpPr>
        <p:spPr>
          <a:xfrm>
            <a:off x="274320" y="4892040"/>
            <a:ext cx="6399720" cy="25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abbdd"/>
                </a:solidFill>
                <a:effectLst/>
                <a:uFillTx/>
                <a:latin typeface="Calibri"/>
                <a:ea typeface="Calibri"/>
              </a:rPr>
              <a:t>Clon de Agapea · Richard &amp; Tomás · 2026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5"/>
          <p:cNvSpPr/>
          <p:nvPr/>
        </p:nvSpPr>
        <p:spPr>
          <a:xfrm>
            <a:off x="8595360" y="4892040"/>
            <a:ext cx="456120" cy="25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abbdd"/>
                </a:solidFill>
                <a:effectLst/>
                <a:uFillTx/>
                <a:latin typeface="Calibri"/>
                <a:ea typeface="Calibri"/>
              </a:rPr>
              <a:t>14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6"/>
          <p:cNvSpPr/>
          <p:nvPr/>
        </p:nvSpPr>
        <p:spPr>
          <a:xfrm>
            <a:off x="365760" y="914400"/>
            <a:ext cx="841140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Flujo de Autenticación con Laravel Sanctum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Shape 7"/>
          <p:cNvSpPr/>
          <p:nvPr/>
        </p:nvSpPr>
        <p:spPr>
          <a:xfrm>
            <a:off x="365760" y="1371600"/>
            <a:ext cx="2010600" cy="821880"/>
          </a:xfrm>
          <a:prstGeom prst="roundRect">
            <a:avLst>
              <a:gd name="adj" fmla="val 7778"/>
            </a:avLst>
          </a:prstGeom>
          <a:solidFill>
            <a:srgbClr val="f4f6fb"/>
          </a:solidFill>
          <a:ln w="15120">
            <a:solidFill>
              <a:srgbClr val="c997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33" name="Text 8"/>
          <p:cNvSpPr/>
          <p:nvPr/>
        </p:nvSpPr>
        <p:spPr>
          <a:xfrm>
            <a:off x="438840" y="1371600"/>
            <a:ext cx="187344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1  Cliente envía email + password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Shape 9"/>
          <p:cNvSpPr/>
          <p:nvPr/>
        </p:nvSpPr>
        <p:spPr>
          <a:xfrm>
            <a:off x="2514600" y="1371600"/>
            <a:ext cx="2010600" cy="821880"/>
          </a:xfrm>
          <a:prstGeom prst="roundRect">
            <a:avLst>
              <a:gd name="adj" fmla="val 7778"/>
            </a:avLst>
          </a:prstGeom>
          <a:solidFill>
            <a:srgbClr val="f4f6fb"/>
          </a:solidFill>
          <a:ln w="15120">
            <a:solidFill>
              <a:srgbClr val="c997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35" name="Text 10"/>
          <p:cNvSpPr/>
          <p:nvPr/>
        </p:nvSpPr>
        <p:spPr>
          <a:xfrm>
            <a:off x="2587680" y="1371600"/>
            <a:ext cx="187344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2  Backend valida credenciales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Shape 11"/>
          <p:cNvSpPr/>
          <p:nvPr/>
        </p:nvSpPr>
        <p:spPr>
          <a:xfrm>
            <a:off x="4663440" y="1371600"/>
            <a:ext cx="2010600" cy="821880"/>
          </a:xfrm>
          <a:prstGeom prst="roundRect">
            <a:avLst>
              <a:gd name="adj" fmla="val 7778"/>
            </a:avLst>
          </a:prstGeom>
          <a:solidFill>
            <a:srgbClr val="f4f6fb"/>
          </a:solidFill>
          <a:ln w="15120">
            <a:solidFill>
              <a:srgbClr val="c997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37" name="Text 12"/>
          <p:cNvSpPr/>
          <p:nvPr/>
        </p:nvSpPr>
        <p:spPr>
          <a:xfrm>
            <a:off x="4736520" y="1371600"/>
            <a:ext cx="187344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3  Genera token de acceso personal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Shape 13"/>
          <p:cNvSpPr/>
          <p:nvPr/>
        </p:nvSpPr>
        <p:spPr>
          <a:xfrm>
            <a:off x="6812280" y="1371600"/>
            <a:ext cx="2010600" cy="821880"/>
          </a:xfrm>
          <a:prstGeom prst="roundRect">
            <a:avLst>
              <a:gd name="adj" fmla="val 7778"/>
            </a:avLst>
          </a:prstGeom>
          <a:solidFill>
            <a:srgbClr val="f4f6fb"/>
          </a:solidFill>
          <a:ln w="15120">
            <a:solidFill>
              <a:srgbClr val="c997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39" name="Text 14"/>
          <p:cNvSpPr/>
          <p:nvPr/>
        </p:nvSpPr>
        <p:spPr>
          <a:xfrm>
            <a:off x="6885360" y="1371600"/>
            <a:ext cx="187344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4  Devuelve token en respuesta JSON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Shape 15"/>
          <p:cNvSpPr/>
          <p:nvPr/>
        </p:nvSpPr>
        <p:spPr>
          <a:xfrm>
            <a:off x="360000" y="2597400"/>
            <a:ext cx="2010600" cy="821880"/>
          </a:xfrm>
          <a:prstGeom prst="roundRect">
            <a:avLst>
              <a:gd name="adj" fmla="val 7778"/>
            </a:avLst>
          </a:prstGeom>
          <a:solidFill>
            <a:srgbClr val="f4f6fb"/>
          </a:solidFill>
          <a:ln w="15120">
            <a:solidFill>
              <a:srgbClr val="c997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41" name="Text 16"/>
          <p:cNvSpPr/>
          <p:nvPr/>
        </p:nvSpPr>
        <p:spPr>
          <a:xfrm>
            <a:off x="438840" y="2597400"/>
            <a:ext cx="187344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5  Frontend guarda token en localStorage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Shape 17"/>
          <p:cNvSpPr/>
          <p:nvPr/>
        </p:nvSpPr>
        <p:spPr>
          <a:xfrm>
            <a:off x="2514600" y="2597400"/>
            <a:ext cx="2010600" cy="821880"/>
          </a:xfrm>
          <a:prstGeom prst="roundRect">
            <a:avLst>
              <a:gd name="adj" fmla="val 7778"/>
            </a:avLst>
          </a:prstGeom>
          <a:solidFill>
            <a:srgbClr val="f4f6fb"/>
          </a:solidFill>
          <a:ln w="15120">
            <a:solidFill>
              <a:srgbClr val="c997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43" name="Text 18"/>
          <p:cNvSpPr/>
          <p:nvPr/>
        </p:nvSpPr>
        <p:spPr>
          <a:xfrm>
            <a:off x="2581200" y="2597400"/>
            <a:ext cx="187344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6  Cada petición adjunta: Authorization: Bearer &lt;token&gt;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Shape 19"/>
          <p:cNvSpPr/>
          <p:nvPr/>
        </p:nvSpPr>
        <p:spPr>
          <a:xfrm>
            <a:off x="4648680" y="2597400"/>
            <a:ext cx="2010600" cy="821880"/>
          </a:xfrm>
          <a:prstGeom prst="roundRect">
            <a:avLst>
              <a:gd name="adj" fmla="val 7778"/>
            </a:avLst>
          </a:prstGeom>
          <a:solidFill>
            <a:srgbClr val="1a2744"/>
          </a:solidFill>
          <a:ln w="126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45" name="Text 20"/>
          <p:cNvSpPr/>
          <p:nvPr/>
        </p:nvSpPr>
        <p:spPr>
          <a:xfrm>
            <a:off x="4736520" y="2597400"/>
            <a:ext cx="187344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7  Middleware auth:sanctum valida en cada request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21"/>
          <p:cNvSpPr/>
          <p:nvPr/>
        </p:nvSpPr>
        <p:spPr>
          <a:xfrm>
            <a:off x="360000" y="3600000"/>
            <a:ext cx="84114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Roles de Acceso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47" name="Table 0"/>
          <p:cNvGraphicFramePr/>
          <p:nvPr/>
        </p:nvGraphicFramePr>
        <p:xfrm>
          <a:off x="307800" y="3896280"/>
          <a:ext cx="8412120" cy="79272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1645920"/>
                <a:gridCol w="3108960"/>
              </a:tblGrid>
              <a:tr h="2642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Sistema</a:t>
                      </a:r>
                      <a:endParaRPr lang="es-E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8640">
                      <a:solidFill>
                        <a:srgbClr val="e8edf7"/>
                      </a:solidFill>
                      <a:prstDash val="solid"/>
                    </a:lnL>
                    <a:lnR w="8640">
                      <a:solidFill>
                        <a:srgbClr val="e8edf7"/>
                      </a:solidFill>
                      <a:prstDash val="solid"/>
                    </a:lnR>
                    <a:lnT w="8640">
                      <a:solidFill>
                        <a:srgbClr val="e8edf7"/>
                      </a:solidFill>
                      <a:prstDash val="solid"/>
                    </a:lnT>
                    <a:lnB w="8640">
                      <a:solidFill>
                        <a:srgbClr val="e8edf7"/>
                      </a:solidFill>
                      <a:prstDash val="soli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Endpoint Login</a:t>
                      </a:r>
                      <a:endParaRPr lang="es-E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8640">
                      <a:solidFill>
                        <a:srgbClr val="e8edf7"/>
                      </a:solidFill>
                      <a:prstDash val="solid"/>
                    </a:lnL>
                    <a:lnR w="8640">
                      <a:solidFill>
                        <a:srgbClr val="e8edf7"/>
                      </a:solidFill>
                      <a:prstDash val="solid"/>
                    </a:lnR>
                    <a:lnT w="8640">
                      <a:solidFill>
                        <a:srgbClr val="e8edf7"/>
                      </a:solidFill>
                      <a:prstDash val="solid"/>
                    </a:lnT>
                    <a:lnB w="8640">
                      <a:solidFill>
                        <a:srgbClr val="e8edf7"/>
                      </a:solidFill>
                      <a:prstDash val="soli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Modelo</a:t>
                      </a:r>
                      <a:endParaRPr lang="es-E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8640">
                      <a:solidFill>
                        <a:srgbClr val="e8edf7"/>
                      </a:solidFill>
                      <a:prstDash val="solid"/>
                    </a:lnL>
                    <a:lnR w="8640">
                      <a:solidFill>
                        <a:srgbClr val="e8edf7"/>
                      </a:solidFill>
                      <a:prstDash val="solid"/>
                    </a:lnR>
                    <a:lnT w="8640">
                      <a:solidFill>
                        <a:srgbClr val="e8edf7"/>
                      </a:solidFill>
                      <a:prstDash val="solid"/>
                    </a:lnT>
                    <a:lnB w="8640">
                      <a:solidFill>
                        <a:srgbClr val="e8edf7"/>
                      </a:solidFill>
                      <a:prstDash val="soli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Rutas protegidas</a:t>
                      </a:r>
                      <a:endParaRPr lang="es-E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8640">
                      <a:solidFill>
                        <a:srgbClr val="e8edf7"/>
                      </a:solidFill>
                      <a:prstDash val="solid"/>
                    </a:lnL>
                    <a:lnR w="8640">
                      <a:solidFill>
                        <a:srgbClr val="e8edf7"/>
                      </a:solidFill>
                      <a:prstDash val="solid"/>
                    </a:lnR>
                    <a:lnT w="8640">
                      <a:solidFill>
                        <a:srgbClr val="e8edf7"/>
                      </a:solidFill>
                      <a:prstDash val="solid"/>
                    </a:lnT>
                    <a:lnB w="8640">
                      <a:solidFill>
                        <a:srgbClr val="e8edf7"/>
                      </a:solidFill>
                      <a:prstDash val="solid"/>
                    </a:lnB>
                    <a:solidFill>
                      <a:srgbClr val="1a2744"/>
                    </a:solidFill>
                  </a:tcPr>
                </a:tc>
              </a:tr>
              <a:tr h="2642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Clientes</a:t>
                      </a:r>
                      <a:endParaRPr lang="es-E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8640">
                      <a:solidFill>
                        <a:srgbClr val="e8edf7"/>
                      </a:solidFill>
                      <a:prstDash val="solid"/>
                    </a:lnL>
                    <a:lnR w="8640">
                      <a:solidFill>
                        <a:srgbClr val="e8edf7"/>
                      </a:solidFill>
                      <a:prstDash val="solid"/>
                    </a:lnR>
                    <a:lnT w="8640">
                      <a:solidFill>
                        <a:srgbClr val="e8edf7"/>
                      </a:solidFill>
                      <a:prstDash val="solid"/>
                    </a:lnT>
                    <a:lnB w="8640">
                      <a:solidFill>
                        <a:srgbClr val="e8edf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POST /api/v1/auth/login</a:t>
                      </a:r>
                      <a:endParaRPr lang="es-E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8640">
                      <a:solidFill>
                        <a:srgbClr val="e8edf7"/>
                      </a:solidFill>
                      <a:prstDash val="solid"/>
                    </a:lnL>
                    <a:lnR w="8640">
                      <a:solidFill>
                        <a:srgbClr val="e8edf7"/>
                      </a:solidFill>
                      <a:prstDash val="solid"/>
                    </a:lnR>
                    <a:lnT w="8640">
                      <a:solidFill>
                        <a:srgbClr val="e8edf7"/>
                      </a:solidFill>
                      <a:prstDash val="solid"/>
                    </a:lnT>
                    <a:lnB w="8640">
                      <a:solidFill>
                        <a:srgbClr val="e8edf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Modelo Customer</a:t>
                      </a:r>
                      <a:endParaRPr lang="es-E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8640">
                      <a:solidFill>
                        <a:srgbClr val="e8edf7"/>
                      </a:solidFill>
                      <a:prstDash val="solid"/>
                    </a:lnL>
                    <a:lnR w="8640">
                      <a:solidFill>
                        <a:srgbClr val="e8edf7"/>
                      </a:solidFill>
                      <a:prstDash val="solid"/>
                    </a:lnR>
                    <a:lnT w="8640">
                      <a:solidFill>
                        <a:srgbClr val="e8edf7"/>
                      </a:solidFill>
                      <a:prstDash val="solid"/>
                    </a:lnT>
                    <a:lnB w="8640">
                      <a:solidFill>
                        <a:srgbClr val="e8edf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Carrito · pedidos · favoritos · reseñas</a:t>
                      </a:r>
                      <a:endParaRPr lang="es-E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8640">
                      <a:solidFill>
                        <a:srgbClr val="e8edf7"/>
                      </a:solidFill>
                      <a:prstDash val="solid"/>
                    </a:lnL>
                    <a:lnR w="8640">
                      <a:solidFill>
                        <a:srgbClr val="e8edf7"/>
                      </a:solidFill>
                      <a:prstDash val="solid"/>
                    </a:lnR>
                    <a:lnT w="8640">
                      <a:solidFill>
                        <a:srgbClr val="e8edf7"/>
                      </a:solidFill>
                      <a:prstDash val="solid"/>
                    </a:lnT>
                    <a:lnB w="8640">
                      <a:solidFill>
                        <a:srgbClr val="e8edf7"/>
                      </a:solidFill>
                      <a:prstDash val="solid"/>
                    </a:lnB>
                    <a:noFill/>
                  </a:tcPr>
                </a:tc>
              </a:tr>
              <a:tr h="2642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Administradores</a:t>
                      </a:r>
                      <a:endParaRPr lang="es-E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8640">
                      <a:solidFill>
                        <a:srgbClr val="e8edf7"/>
                      </a:solidFill>
                      <a:prstDash val="solid"/>
                    </a:lnL>
                    <a:lnR w="8640">
                      <a:solidFill>
                        <a:srgbClr val="e8edf7"/>
                      </a:solidFill>
                      <a:prstDash val="solid"/>
                    </a:lnR>
                    <a:lnT w="8640">
                      <a:solidFill>
                        <a:srgbClr val="e8edf7"/>
                      </a:solidFill>
                      <a:prstDash val="solid"/>
                    </a:lnT>
                    <a:lnB w="8640">
                      <a:solidFill>
                        <a:srgbClr val="e8edf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POST /api/v1/admin/login</a:t>
                      </a:r>
                      <a:endParaRPr lang="es-E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8640">
                      <a:solidFill>
                        <a:srgbClr val="e8edf7"/>
                      </a:solidFill>
                      <a:prstDash val="solid"/>
                    </a:lnL>
                    <a:lnR w="8640">
                      <a:solidFill>
                        <a:srgbClr val="e8edf7"/>
                      </a:solidFill>
                      <a:prstDash val="solid"/>
                    </a:lnR>
                    <a:lnT w="8640">
                      <a:solidFill>
                        <a:srgbClr val="e8edf7"/>
                      </a:solidFill>
                      <a:prstDash val="solid"/>
                    </a:lnT>
                    <a:lnB w="8640">
                      <a:solidFill>
                        <a:srgbClr val="e8edf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Modelo User</a:t>
                      </a:r>
                      <a:endParaRPr lang="es-E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8640">
                      <a:solidFill>
                        <a:srgbClr val="e8edf7"/>
                      </a:solidFill>
                      <a:prstDash val="solid"/>
                    </a:lnL>
                    <a:lnR w="8640">
                      <a:solidFill>
                        <a:srgbClr val="e8edf7"/>
                      </a:solidFill>
                      <a:prstDash val="solid"/>
                    </a:lnR>
                    <a:lnT w="8640">
                      <a:solidFill>
                        <a:srgbClr val="e8edf7"/>
                      </a:solidFill>
                      <a:prstDash val="solid"/>
                    </a:lnT>
                    <a:lnB w="8640">
                      <a:solidFill>
                        <a:srgbClr val="e8edf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CRUD completo del back office</a:t>
                      </a:r>
                      <a:endParaRPr lang="es-E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8640">
                      <a:solidFill>
                        <a:srgbClr val="e8edf7"/>
                      </a:solidFill>
                      <a:prstDash val="solid"/>
                    </a:lnL>
                    <a:lnR w="8640">
                      <a:solidFill>
                        <a:srgbClr val="e8edf7"/>
                      </a:solidFill>
                      <a:prstDash val="solid"/>
                    </a:lnR>
                    <a:lnT w="8640">
                      <a:solidFill>
                        <a:srgbClr val="e8edf7"/>
                      </a:solidFill>
                      <a:prstDash val="solid"/>
                    </a:lnT>
                    <a:lnB w="8640">
                      <a:solidFill>
                        <a:srgbClr val="e8edf7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Shape 0"/>
          <p:cNvSpPr/>
          <p:nvPr/>
        </p:nvSpPr>
        <p:spPr>
          <a:xfrm>
            <a:off x="365760" y="201240"/>
            <a:ext cx="53640" cy="501840"/>
          </a:xfrm>
          <a:prstGeom prst="rect">
            <a:avLst/>
          </a:prstGeom>
          <a:solidFill>
            <a:srgbClr val="c9973a"/>
          </a:solidFill>
          <a:ln w="12600">
            <a:solidFill>
              <a:srgbClr val="c997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49" name="Text 1"/>
          <p:cNvSpPr/>
          <p:nvPr/>
        </p:nvSpPr>
        <p:spPr>
          <a:xfrm>
            <a:off x="502920" y="164520"/>
            <a:ext cx="831996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Uso de Inteligencia Artificial en el Desarrollo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2"/>
          <p:cNvSpPr/>
          <p:nvPr/>
        </p:nvSpPr>
        <p:spPr>
          <a:xfrm>
            <a:off x="365760" y="777240"/>
            <a:ext cx="8412480" cy="360"/>
          </a:xfrm>
          <a:prstGeom prst="line">
            <a:avLst/>
          </a:prstGeom>
          <a:ln w="15120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51" name="Shape 3"/>
          <p:cNvSpPr/>
          <p:nvPr/>
        </p:nvSpPr>
        <p:spPr>
          <a:xfrm>
            <a:off x="0" y="4892040"/>
            <a:ext cx="9142920" cy="250560"/>
          </a:xfrm>
          <a:prstGeom prst="rect">
            <a:avLst/>
          </a:prstGeom>
          <a:solidFill>
            <a:srgbClr val="1a2744"/>
          </a:solidFill>
          <a:ln w="126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52" name="Text 4"/>
          <p:cNvSpPr/>
          <p:nvPr/>
        </p:nvSpPr>
        <p:spPr>
          <a:xfrm>
            <a:off x="274320" y="4892040"/>
            <a:ext cx="6399720" cy="25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abbdd"/>
                </a:solidFill>
                <a:effectLst/>
                <a:uFillTx/>
                <a:latin typeface="Calibri"/>
                <a:ea typeface="Calibri"/>
              </a:rPr>
              <a:t>Clon de Agapea · Richard &amp; Tomás · 2026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5"/>
          <p:cNvSpPr/>
          <p:nvPr/>
        </p:nvSpPr>
        <p:spPr>
          <a:xfrm>
            <a:off x="8595360" y="4892040"/>
            <a:ext cx="456120" cy="25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abbdd"/>
                </a:solidFill>
                <a:effectLst/>
                <a:uFillTx/>
                <a:latin typeface="Calibri"/>
                <a:ea typeface="Calibri"/>
              </a:rPr>
              <a:t>15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Shape 6"/>
          <p:cNvSpPr/>
          <p:nvPr/>
        </p:nvSpPr>
        <p:spPr>
          <a:xfrm>
            <a:off x="365760" y="914400"/>
            <a:ext cx="2742120" cy="456120"/>
          </a:xfrm>
          <a:prstGeom prst="rect">
            <a:avLst/>
          </a:prstGeom>
          <a:solidFill>
            <a:srgbClr val="1a2744"/>
          </a:solidFill>
          <a:ln w="126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55" name="Text 7"/>
          <p:cNvSpPr/>
          <p:nvPr/>
        </p:nvSpPr>
        <p:spPr>
          <a:xfrm>
            <a:off x="365760" y="914400"/>
            <a:ext cx="27421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c9973a"/>
                </a:solidFill>
                <a:effectLst/>
                <a:uFillTx/>
                <a:latin typeface="Calibri"/>
                <a:ea typeface="Calibri"/>
              </a:rPr>
              <a:t>Antigravity + Google Gemini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8"/>
          <p:cNvSpPr/>
          <p:nvPr/>
        </p:nvSpPr>
        <p:spPr>
          <a:xfrm>
            <a:off x="365760" y="1080000"/>
            <a:ext cx="27421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aabbdd"/>
                </a:solidFill>
                <a:effectLst/>
                <a:uFillTx/>
                <a:latin typeface="Calibri"/>
                <a:ea typeface="Calibri"/>
              </a:rPr>
              <a:t>Backend scaffolding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Shape 9"/>
          <p:cNvSpPr/>
          <p:nvPr/>
        </p:nvSpPr>
        <p:spPr>
          <a:xfrm>
            <a:off x="365760" y="1371600"/>
            <a:ext cx="2742120" cy="2376360"/>
          </a:xfrm>
          <a:prstGeom prst="rect">
            <a:avLst/>
          </a:prstGeom>
          <a:solidFill>
            <a:srgbClr val="f4f6fb"/>
          </a:solidFill>
          <a:ln w="10080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58" name="Shape 10"/>
          <p:cNvSpPr/>
          <p:nvPr/>
        </p:nvSpPr>
        <p:spPr>
          <a:xfrm>
            <a:off x="530280" y="1600200"/>
            <a:ext cx="99360" cy="99360"/>
          </a:xfrm>
          <a:prstGeom prst="ellipse">
            <a:avLst/>
          </a:prstGeom>
          <a:solidFill>
            <a:srgbClr val="c9973a"/>
          </a:solidFill>
          <a:ln w="12600">
            <a:solidFill>
              <a:srgbClr val="c997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59" name="Text 11"/>
          <p:cNvSpPr/>
          <p:nvPr/>
        </p:nvSpPr>
        <p:spPr>
          <a:xfrm>
            <a:off x="704160" y="1527120"/>
            <a:ext cx="228492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Generación de modelos y migraciones Laravel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12"/>
          <p:cNvSpPr/>
          <p:nvPr/>
        </p:nvSpPr>
        <p:spPr>
          <a:xfrm>
            <a:off x="530280" y="2313360"/>
            <a:ext cx="99360" cy="99360"/>
          </a:xfrm>
          <a:prstGeom prst="ellipse">
            <a:avLst/>
          </a:prstGeom>
          <a:solidFill>
            <a:srgbClr val="c9973a"/>
          </a:solidFill>
          <a:ln w="12600">
            <a:solidFill>
              <a:srgbClr val="c997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61" name="Text 13"/>
          <p:cNvSpPr/>
          <p:nvPr/>
        </p:nvSpPr>
        <p:spPr>
          <a:xfrm>
            <a:off x="704160" y="2240280"/>
            <a:ext cx="228492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Scaffolding de controladores y rutas API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Shape 14"/>
          <p:cNvSpPr/>
          <p:nvPr/>
        </p:nvSpPr>
        <p:spPr>
          <a:xfrm>
            <a:off x="530280" y="3026520"/>
            <a:ext cx="99360" cy="99360"/>
          </a:xfrm>
          <a:prstGeom prst="ellipse">
            <a:avLst/>
          </a:prstGeom>
          <a:solidFill>
            <a:srgbClr val="c9973a"/>
          </a:solidFill>
          <a:ln w="12600">
            <a:solidFill>
              <a:srgbClr val="c997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63" name="Text 15"/>
          <p:cNvSpPr/>
          <p:nvPr/>
        </p:nvSpPr>
        <p:spPr>
          <a:xfrm>
            <a:off x="704160" y="2953440"/>
            <a:ext cx="228492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Principal herramienta de desarrollo asistido del backend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16"/>
          <p:cNvSpPr/>
          <p:nvPr/>
        </p:nvSpPr>
        <p:spPr>
          <a:xfrm>
            <a:off x="3246120" y="914400"/>
            <a:ext cx="2742120" cy="456120"/>
          </a:xfrm>
          <a:prstGeom prst="rect">
            <a:avLst/>
          </a:prstGeom>
          <a:solidFill>
            <a:srgbClr val="1a2744"/>
          </a:solidFill>
          <a:ln w="126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65" name="Text 17"/>
          <p:cNvSpPr/>
          <p:nvPr/>
        </p:nvSpPr>
        <p:spPr>
          <a:xfrm>
            <a:off x="3246120" y="914400"/>
            <a:ext cx="27421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c9973a"/>
                </a:solidFill>
                <a:effectLst/>
                <a:uFillTx/>
                <a:latin typeface="Calibri"/>
                <a:ea typeface="Calibri"/>
              </a:rPr>
              <a:t>Claude (Anthropic)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18"/>
          <p:cNvSpPr/>
          <p:nvPr/>
        </p:nvSpPr>
        <p:spPr>
          <a:xfrm>
            <a:off x="3246120" y="1080000"/>
            <a:ext cx="27421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aabbdd"/>
                </a:solidFill>
                <a:effectLst/>
                <a:uFillTx/>
                <a:latin typeface="Calibri"/>
                <a:ea typeface="Calibri"/>
              </a:rPr>
              <a:t>Frontend + consultas JS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19"/>
          <p:cNvSpPr/>
          <p:nvPr/>
        </p:nvSpPr>
        <p:spPr>
          <a:xfrm>
            <a:off x="3246120" y="1371240"/>
            <a:ext cx="2742120" cy="2376360"/>
          </a:xfrm>
          <a:prstGeom prst="rect">
            <a:avLst/>
          </a:prstGeom>
          <a:solidFill>
            <a:srgbClr val="f4f6fb"/>
          </a:solidFill>
          <a:ln w="10080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68" name="Shape 20"/>
          <p:cNvSpPr/>
          <p:nvPr/>
        </p:nvSpPr>
        <p:spPr>
          <a:xfrm>
            <a:off x="3410640" y="1600200"/>
            <a:ext cx="99360" cy="99360"/>
          </a:xfrm>
          <a:prstGeom prst="ellipse">
            <a:avLst/>
          </a:prstGeom>
          <a:solidFill>
            <a:srgbClr val="c9973a"/>
          </a:solidFill>
          <a:ln w="12600">
            <a:solidFill>
              <a:srgbClr val="c997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69" name="Text 21"/>
          <p:cNvSpPr/>
          <p:nvPr/>
        </p:nvSpPr>
        <p:spPr>
          <a:xfrm>
            <a:off x="3584520" y="1527120"/>
            <a:ext cx="228492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Maquetación CSS del front office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Shape 22"/>
          <p:cNvSpPr/>
          <p:nvPr/>
        </p:nvSpPr>
        <p:spPr>
          <a:xfrm>
            <a:off x="3410640" y="2313360"/>
            <a:ext cx="99360" cy="99360"/>
          </a:xfrm>
          <a:prstGeom prst="ellipse">
            <a:avLst/>
          </a:prstGeom>
          <a:solidFill>
            <a:srgbClr val="c9973a"/>
          </a:solidFill>
          <a:ln w="12600">
            <a:solidFill>
              <a:srgbClr val="c997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71" name="Text 23"/>
          <p:cNvSpPr/>
          <p:nvPr/>
        </p:nvSpPr>
        <p:spPr>
          <a:xfrm>
            <a:off x="3584520" y="2240280"/>
            <a:ext cx="228492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Consultas y herramienta para puesta en producción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Shape 24"/>
          <p:cNvSpPr/>
          <p:nvPr/>
        </p:nvSpPr>
        <p:spPr>
          <a:xfrm>
            <a:off x="3410640" y="3026520"/>
            <a:ext cx="99360" cy="99360"/>
          </a:xfrm>
          <a:prstGeom prst="ellipse">
            <a:avLst/>
          </a:prstGeom>
          <a:solidFill>
            <a:srgbClr val="c9973a"/>
          </a:solidFill>
          <a:ln w="12600">
            <a:solidFill>
              <a:srgbClr val="c997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73" name="Text 25"/>
          <p:cNvSpPr/>
          <p:nvPr/>
        </p:nvSpPr>
        <p:spPr>
          <a:xfrm>
            <a:off x="3584520" y="2953440"/>
            <a:ext cx="228492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Resolución de dudas técnicas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Shape 26"/>
          <p:cNvSpPr/>
          <p:nvPr/>
        </p:nvSpPr>
        <p:spPr>
          <a:xfrm>
            <a:off x="6126480" y="914400"/>
            <a:ext cx="2742120" cy="456120"/>
          </a:xfrm>
          <a:prstGeom prst="rect">
            <a:avLst/>
          </a:prstGeom>
          <a:solidFill>
            <a:srgbClr val="1a2744"/>
          </a:solidFill>
          <a:ln w="126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75" name="Text 27"/>
          <p:cNvSpPr/>
          <p:nvPr/>
        </p:nvSpPr>
        <p:spPr>
          <a:xfrm>
            <a:off x="6126480" y="914400"/>
            <a:ext cx="27421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c9973a"/>
                </a:solidFill>
                <a:effectLst/>
                <a:uFillTx/>
                <a:latin typeface="Calibri"/>
                <a:ea typeface="Calibri"/>
              </a:rPr>
              <a:t>ChatGPT (OpenAI)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28"/>
          <p:cNvSpPr/>
          <p:nvPr/>
        </p:nvSpPr>
        <p:spPr>
          <a:xfrm>
            <a:off x="6126480" y="1080000"/>
            <a:ext cx="27421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aabbdd"/>
                </a:solidFill>
                <a:effectLst/>
                <a:uFillTx/>
                <a:latin typeface="Calibri"/>
                <a:ea typeface="Calibri"/>
              </a:rPr>
              <a:t>Soporte puntual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Shape 29"/>
          <p:cNvSpPr/>
          <p:nvPr/>
        </p:nvSpPr>
        <p:spPr>
          <a:xfrm>
            <a:off x="6126480" y="1371600"/>
            <a:ext cx="2742120" cy="2376360"/>
          </a:xfrm>
          <a:prstGeom prst="rect">
            <a:avLst/>
          </a:prstGeom>
          <a:solidFill>
            <a:srgbClr val="f4f6fb"/>
          </a:solidFill>
          <a:ln w="10080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78" name="Shape 30"/>
          <p:cNvSpPr/>
          <p:nvPr/>
        </p:nvSpPr>
        <p:spPr>
          <a:xfrm>
            <a:off x="6291000" y="1600200"/>
            <a:ext cx="99360" cy="99360"/>
          </a:xfrm>
          <a:prstGeom prst="ellipse">
            <a:avLst/>
          </a:prstGeom>
          <a:solidFill>
            <a:srgbClr val="c9973a"/>
          </a:solidFill>
          <a:ln w="12600">
            <a:solidFill>
              <a:srgbClr val="c997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79" name="Text 31"/>
          <p:cNvSpPr/>
          <p:nvPr/>
        </p:nvSpPr>
        <p:spPr>
          <a:xfrm>
            <a:off x="6464880" y="1527120"/>
            <a:ext cx="228492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Depuración de errores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Shape 32"/>
          <p:cNvSpPr/>
          <p:nvPr/>
        </p:nvSpPr>
        <p:spPr>
          <a:xfrm>
            <a:off x="6291000" y="2313360"/>
            <a:ext cx="99360" cy="99360"/>
          </a:xfrm>
          <a:prstGeom prst="ellipse">
            <a:avLst/>
          </a:prstGeom>
          <a:solidFill>
            <a:srgbClr val="c9973a"/>
          </a:solidFill>
          <a:ln w="12600">
            <a:solidFill>
              <a:srgbClr val="c997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81" name="Text 33"/>
          <p:cNvSpPr/>
          <p:nvPr/>
        </p:nvSpPr>
        <p:spPr>
          <a:xfrm>
            <a:off x="6464880" y="2240280"/>
            <a:ext cx="228492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Cuestiones de lógica específicas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Shape 34"/>
          <p:cNvSpPr/>
          <p:nvPr/>
        </p:nvSpPr>
        <p:spPr>
          <a:xfrm>
            <a:off x="6291000" y="3026520"/>
            <a:ext cx="99360" cy="99360"/>
          </a:xfrm>
          <a:prstGeom prst="ellipse">
            <a:avLst/>
          </a:prstGeom>
          <a:solidFill>
            <a:srgbClr val="c9973a"/>
          </a:solidFill>
          <a:ln w="12600">
            <a:solidFill>
              <a:srgbClr val="c997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83" name="Text 35"/>
          <p:cNvSpPr/>
          <p:nvPr/>
        </p:nvSpPr>
        <p:spPr>
          <a:xfrm>
            <a:off x="6464880" y="2953440"/>
            <a:ext cx="228492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Consultas ocasionales durante la integración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ldBar"/>
          <p:cNvSpPr/>
          <p:nvPr/>
        </p:nvSpPr>
        <p:spPr>
          <a:xfrm>
            <a:off x="365760" y="201240"/>
            <a:ext cx="53640" cy="501840"/>
          </a:xfrm>
          <a:prstGeom prst="rect">
            <a:avLst/>
          </a:prstGeom>
          <a:solidFill>
            <a:srgbClr val="c9973a"/>
          </a:solidFill>
          <a:ln w="12600">
            <a:solidFill>
              <a:srgbClr val="c997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85" name="Title"/>
          <p:cNvSpPr/>
          <p:nvPr/>
        </p:nvSpPr>
        <p:spPr>
          <a:xfrm>
            <a:off x="502920" y="164520"/>
            <a:ext cx="831996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s-ES" sz="2600" b="1" u="none" strike="noStrike">
                <a:solidFill>
                  <a:srgbClr val="1a2744"/>
                </a:solidFill>
                <a:effectLst/>
                <a:uFillTx/>
                <a:latin typeface="Calibri"/>
                <a:ea typeface="DejaVu Sans"/>
              </a:rPr>
              <a:t>Problemas Encontrados y Soluciones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Divider"/>
          <p:cNvSpPr/>
          <p:nvPr/>
        </p:nvSpPr>
        <p:spPr>
          <a:xfrm>
            <a:off x="365760" y="777240"/>
            <a:ext cx="8412480" cy="360"/>
          </a:xfrm>
          <a:prstGeom prst="line">
            <a:avLst/>
          </a:prstGeom>
          <a:ln w="15120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87" name="ProbCard"/>
          <p:cNvSpPr/>
          <p:nvPr/>
        </p:nvSpPr>
        <p:spPr>
          <a:xfrm>
            <a:off x="365760" y="1006200"/>
            <a:ext cx="4113720" cy="1188000"/>
          </a:xfrm>
          <a:prstGeom prst="rect">
            <a:avLst/>
          </a:prstGeom>
          <a:solidFill>
            <a:srgbClr val="ffffff"/>
          </a:solidFill>
          <a:ln w="9000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88" name="RedBar"/>
          <p:cNvSpPr/>
          <p:nvPr/>
        </p:nvSpPr>
        <p:spPr>
          <a:xfrm>
            <a:off x="365760" y="1006200"/>
            <a:ext cx="4113720" cy="4968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89" name="ProbText"/>
          <p:cNvSpPr/>
          <p:nvPr/>
        </p:nvSpPr>
        <p:spPr>
          <a:xfrm>
            <a:off x="457200" y="1066320"/>
            <a:ext cx="3930840" cy="11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000" rIns="45000" tIns="29880" bIns="29880" anchor="t">
            <a:noAutofit/>
          </a:bodyPr>
          <a:p>
            <a:pPr>
              <a:lnSpc>
                <a:spcPct val="100000"/>
              </a:lnSpc>
            </a:pPr>
            <a:r>
              <a:rPr lang="es-ES" sz="900" b="0" u="none" strike="noStrike">
                <a:solidFill>
                  <a:srgbClr val="c0392b"/>
                </a:solidFill>
                <a:effectLst/>
                <a:uFillTx/>
                <a:latin typeface="Calibri"/>
                <a:ea typeface="DejaVu Sans"/>
              </a:rPr>
              <a:t>Problema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1200" b="1" u="none" strike="noStrike">
                <a:solidFill>
                  <a:srgbClr val="1a2744"/>
                </a:solidFill>
                <a:effectLst/>
                <a:uFillTx/>
                <a:latin typeface="Calibri"/>
                <a:ea typeface="DejaVu Sans"/>
              </a:rPr>
              <a:t>Curva de aprendizaje JS avanzado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900" b="0" u="none" strike="noStrike">
                <a:solidFill>
                  <a:srgbClr val="1e8449"/>
                </a:solidFill>
                <a:effectLst/>
                <a:uFillTx/>
                <a:latin typeface="Calibri"/>
                <a:ea typeface="DejaVu Sans"/>
              </a:rPr>
              <a:t>Solución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110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DejaVu Sans"/>
              </a:rPr>
              <a:t>Módulos ES6, fetch y debounce implementados antes de que se impartieran en clase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ProbCard"/>
          <p:cNvSpPr/>
          <p:nvPr/>
        </p:nvSpPr>
        <p:spPr>
          <a:xfrm>
            <a:off x="4708800" y="1006200"/>
            <a:ext cx="4113720" cy="1188000"/>
          </a:xfrm>
          <a:prstGeom prst="rect">
            <a:avLst/>
          </a:prstGeom>
          <a:solidFill>
            <a:srgbClr val="ffffff"/>
          </a:solidFill>
          <a:ln w="9000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91" name="RedBar"/>
          <p:cNvSpPr/>
          <p:nvPr/>
        </p:nvSpPr>
        <p:spPr>
          <a:xfrm>
            <a:off x="4708800" y="1006200"/>
            <a:ext cx="4113720" cy="4968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92" name="ProbText"/>
          <p:cNvSpPr/>
          <p:nvPr/>
        </p:nvSpPr>
        <p:spPr>
          <a:xfrm>
            <a:off x="4800240" y="1066320"/>
            <a:ext cx="3930840" cy="11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000" rIns="45000" tIns="29880" bIns="29880" anchor="t">
            <a:noAutofit/>
          </a:bodyPr>
          <a:p>
            <a:pPr>
              <a:lnSpc>
                <a:spcPct val="100000"/>
              </a:lnSpc>
            </a:pPr>
            <a:r>
              <a:rPr lang="es-ES" sz="900" b="0" u="none" strike="noStrike">
                <a:solidFill>
                  <a:srgbClr val="c0392b"/>
                </a:solidFill>
                <a:effectLst/>
                <a:uFillTx/>
                <a:latin typeface="Calibri"/>
                <a:ea typeface="DejaVu Sans"/>
              </a:rPr>
              <a:t>Problema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1200" b="1" u="none" strike="noStrike">
                <a:solidFill>
                  <a:srgbClr val="1a2744"/>
                </a:solidFill>
                <a:effectLst/>
                <a:uFillTx/>
                <a:latin typeface="Calibri"/>
                <a:ea typeface="DejaVu Sans"/>
              </a:rPr>
              <a:t>Desbordamiento de trabajo CSS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900" b="0" u="none" strike="noStrike">
                <a:solidFill>
                  <a:srgbClr val="1e8449"/>
                </a:solidFill>
                <a:effectLst/>
                <a:uFillTx/>
                <a:latin typeface="Calibri"/>
                <a:ea typeface="DejaVu Sans"/>
              </a:rPr>
              <a:t>Solución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110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DejaVu Sans"/>
              </a:rPr>
              <a:t>Estrategia mixta: CSS manual + asistencia de Claude con instrucciones precisas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ProbCard"/>
          <p:cNvSpPr/>
          <p:nvPr/>
        </p:nvSpPr>
        <p:spPr>
          <a:xfrm>
            <a:off x="365760" y="2285280"/>
            <a:ext cx="4113720" cy="1188000"/>
          </a:xfrm>
          <a:prstGeom prst="rect">
            <a:avLst/>
          </a:prstGeom>
          <a:solidFill>
            <a:srgbClr val="ffffff"/>
          </a:solidFill>
          <a:ln w="9000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94" name="RedBar"/>
          <p:cNvSpPr/>
          <p:nvPr/>
        </p:nvSpPr>
        <p:spPr>
          <a:xfrm>
            <a:off x="365760" y="2285280"/>
            <a:ext cx="4113720" cy="4968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95" name="ProbText"/>
          <p:cNvSpPr/>
          <p:nvPr/>
        </p:nvSpPr>
        <p:spPr>
          <a:xfrm>
            <a:off x="457200" y="2345400"/>
            <a:ext cx="3930840" cy="11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000" rIns="45000" tIns="29880" bIns="29880" anchor="t">
            <a:noAutofit/>
          </a:bodyPr>
          <a:p>
            <a:pPr>
              <a:lnSpc>
                <a:spcPct val="100000"/>
              </a:lnSpc>
            </a:pPr>
            <a:r>
              <a:rPr lang="es-ES" sz="900" b="0" u="none" strike="noStrike">
                <a:solidFill>
                  <a:srgbClr val="c0392b"/>
                </a:solidFill>
                <a:effectLst/>
                <a:uFillTx/>
                <a:latin typeface="Calibri"/>
                <a:ea typeface="DejaVu Sans"/>
              </a:rPr>
              <a:t>Problema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1200" b="1" u="none" strike="noStrike">
                <a:solidFill>
                  <a:srgbClr val="1a2744"/>
                </a:solidFill>
                <a:effectLst/>
                <a:uFillTx/>
                <a:latin typeface="Calibri"/>
                <a:ea typeface="DejaVu Sans"/>
              </a:rPr>
              <a:t>Portadas de libros no cargaban tras conectar el backend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900" b="0" u="none" strike="noStrike">
                <a:solidFill>
                  <a:srgbClr val="1e8449"/>
                </a:solidFill>
                <a:effectLst/>
                <a:uFillTx/>
                <a:latin typeface="Calibri"/>
                <a:ea typeface="DejaVu Sans"/>
              </a:rPr>
              <a:t>Solución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110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DejaVu Sans"/>
              </a:rPr>
              <a:t>Rutas relativas en BD; el frontend resuelve la URL completa al renderizar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ProbCard"/>
          <p:cNvSpPr/>
          <p:nvPr/>
        </p:nvSpPr>
        <p:spPr>
          <a:xfrm>
            <a:off x="4708800" y="2285280"/>
            <a:ext cx="4113720" cy="1188000"/>
          </a:xfrm>
          <a:prstGeom prst="rect">
            <a:avLst/>
          </a:prstGeom>
          <a:solidFill>
            <a:srgbClr val="ffffff"/>
          </a:solidFill>
          <a:ln w="9000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97" name="RedBar"/>
          <p:cNvSpPr/>
          <p:nvPr/>
        </p:nvSpPr>
        <p:spPr>
          <a:xfrm>
            <a:off x="4708800" y="2285280"/>
            <a:ext cx="4113720" cy="4968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98" name="ProbText"/>
          <p:cNvSpPr/>
          <p:nvPr/>
        </p:nvSpPr>
        <p:spPr>
          <a:xfrm>
            <a:off x="4800240" y="2345400"/>
            <a:ext cx="3930840" cy="11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000" rIns="45000" tIns="29880" bIns="29880" anchor="t">
            <a:noAutofit/>
          </a:bodyPr>
          <a:p>
            <a:pPr>
              <a:lnSpc>
                <a:spcPct val="100000"/>
              </a:lnSpc>
            </a:pPr>
            <a:r>
              <a:rPr lang="es-ES" sz="900" b="0" u="none" strike="noStrike">
                <a:solidFill>
                  <a:srgbClr val="c0392b"/>
                </a:solidFill>
                <a:effectLst/>
                <a:uFillTx/>
                <a:latin typeface="Calibri"/>
                <a:ea typeface="DejaVu Sans"/>
              </a:rPr>
              <a:t>Problema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1200" b="1" u="none" strike="noStrike">
                <a:solidFill>
                  <a:srgbClr val="1a2744"/>
                </a:solidFill>
                <a:effectLst/>
                <a:uFillTx/>
                <a:latin typeface="Calibri"/>
                <a:ea typeface="DejaVu Sans"/>
              </a:rPr>
              <a:t>Cambios no deseados introducidos por la IA en la DB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900" b="0" u="none" strike="noStrike">
                <a:solidFill>
                  <a:srgbClr val="1e8449"/>
                </a:solidFill>
                <a:effectLst/>
                <a:uFillTx/>
                <a:latin typeface="Calibri"/>
                <a:ea typeface="DejaVu Sans"/>
              </a:rPr>
              <a:t>Solución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110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DejaVu Sans"/>
              </a:rPr>
              <a:t>Se restauraron manualmente los datos correctos. El incidente reforzó la necesidad de revisar los cambios que la IA realizaba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ProbCard"/>
          <p:cNvSpPr/>
          <p:nvPr/>
        </p:nvSpPr>
        <p:spPr>
          <a:xfrm>
            <a:off x="365760" y="3564360"/>
            <a:ext cx="4113720" cy="1188000"/>
          </a:xfrm>
          <a:prstGeom prst="rect">
            <a:avLst/>
          </a:prstGeom>
          <a:solidFill>
            <a:srgbClr val="ffffff"/>
          </a:solidFill>
          <a:ln w="9000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00" name="RedBar"/>
          <p:cNvSpPr/>
          <p:nvPr/>
        </p:nvSpPr>
        <p:spPr>
          <a:xfrm>
            <a:off x="365760" y="3564360"/>
            <a:ext cx="4113720" cy="4968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01" name="ProbText"/>
          <p:cNvSpPr/>
          <p:nvPr/>
        </p:nvSpPr>
        <p:spPr>
          <a:xfrm>
            <a:off x="457200" y="3624480"/>
            <a:ext cx="3930840" cy="11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000" rIns="45000" tIns="29880" bIns="29880" anchor="t">
            <a:noAutofit/>
          </a:bodyPr>
          <a:p>
            <a:pPr>
              <a:lnSpc>
                <a:spcPct val="100000"/>
              </a:lnSpc>
            </a:pPr>
            <a:r>
              <a:rPr lang="es-ES" sz="900" b="0" u="none" strike="noStrike">
                <a:solidFill>
                  <a:srgbClr val="c0392b"/>
                </a:solidFill>
                <a:effectLst/>
                <a:uFillTx/>
                <a:latin typeface="Calibri"/>
                <a:ea typeface="DejaVu Sans"/>
              </a:rPr>
              <a:t>Problema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1200" b="1" u="none" strike="noStrike">
                <a:solidFill>
                  <a:srgbClr val="1a2744"/>
                </a:solidFill>
                <a:effectLst/>
                <a:uFillTx/>
                <a:latin typeface="Calibri"/>
                <a:ea typeface="DejaVu Sans"/>
              </a:rPr>
              <a:t>Incompatibilidad entre MySQL y PostgreSQL en producción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900" b="0" u="none" strike="noStrike">
                <a:solidFill>
                  <a:srgbClr val="1e8449"/>
                </a:solidFill>
                <a:effectLst/>
                <a:uFillTx/>
                <a:latin typeface="Calibri"/>
                <a:ea typeface="DejaVu Sans"/>
              </a:rPr>
              <a:t>Solución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110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DejaVu Sans"/>
              </a:rPr>
              <a:t>Se utilizó el seeder de Laravel para generar un conjunto de datos de prueba directamente sobre PostgreSQL (solución temporal)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ProbCard"/>
          <p:cNvSpPr/>
          <p:nvPr/>
        </p:nvSpPr>
        <p:spPr>
          <a:xfrm>
            <a:off x="4708800" y="3564360"/>
            <a:ext cx="4113720" cy="1188000"/>
          </a:xfrm>
          <a:prstGeom prst="rect">
            <a:avLst/>
          </a:prstGeom>
          <a:solidFill>
            <a:srgbClr val="ffffff"/>
          </a:solidFill>
          <a:ln w="9000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03" name="RedBar"/>
          <p:cNvSpPr/>
          <p:nvPr/>
        </p:nvSpPr>
        <p:spPr>
          <a:xfrm>
            <a:off x="4708800" y="3564360"/>
            <a:ext cx="4113720" cy="4968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04" name="ProbText"/>
          <p:cNvSpPr/>
          <p:nvPr/>
        </p:nvSpPr>
        <p:spPr>
          <a:xfrm>
            <a:off x="4800240" y="3624480"/>
            <a:ext cx="3930840" cy="11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000" rIns="45000" tIns="29880" bIns="29880" anchor="t">
            <a:noAutofit/>
          </a:bodyPr>
          <a:p>
            <a:pPr>
              <a:lnSpc>
                <a:spcPct val="100000"/>
              </a:lnSpc>
            </a:pPr>
            <a:r>
              <a:rPr lang="es-ES" sz="900" b="0" u="none" strike="noStrike">
                <a:solidFill>
                  <a:srgbClr val="c0392b"/>
                </a:solidFill>
                <a:effectLst/>
                <a:uFillTx/>
                <a:latin typeface="Calibri"/>
                <a:ea typeface="DejaVu Sans"/>
              </a:rPr>
              <a:t>Problema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1200" b="1" u="none" strike="noStrike">
                <a:solidFill>
                  <a:srgbClr val="1a2744"/>
                </a:solidFill>
                <a:effectLst/>
                <a:uFillTx/>
                <a:latin typeface="Calibri"/>
                <a:ea typeface="DejaVu Sans"/>
              </a:rPr>
              <a:t>Saturación de la API por el buscador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900" b="0" u="none" strike="noStrike">
                <a:solidFill>
                  <a:srgbClr val="1e8449"/>
                </a:solidFill>
                <a:effectLst/>
                <a:uFillTx/>
                <a:latin typeface="Calibri"/>
                <a:ea typeface="DejaVu Sans"/>
              </a:rPr>
              <a:t>Solución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110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DejaVu Sans"/>
              </a:rPr>
              <a:t>Debounce 400 ms: clearTimeout cancela la petición anterior antes de lanzar la nueva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FooterBar"/>
          <p:cNvSpPr/>
          <p:nvPr/>
        </p:nvSpPr>
        <p:spPr>
          <a:xfrm>
            <a:off x="0" y="4892040"/>
            <a:ext cx="9142920" cy="250560"/>
          </a:xfrm>
          <a:prstGeom prst="rect">
            <a:avLst/>
          </a:prstGeom>
          <a:solidFill>
            <a:srgbClr val="1a2744"/>
          </a:solidFill>
          <a:ln w="126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06" name="FooterText"/>
          <p:cNvSpPr/>
          <p:nvPr/>
        </p:nvSpPr>
        <p:spPr>
          <a:xfrm>
            <a:off x="274320" y="4892040"/>
            <a:ext cx="6399720" cy="25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aabbdd"/>
                </a:solidFill>
                <a:effectLst/>
                <a:uFillTx/>
                <a:latin typeface="Calibri"/>
                <a:ea typeface="DejaVu Sans"/>
              </a:rPr>
              <a:t>Clon de Agapea · Richard &amp; Tomás · 2026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PageNum"/>
          <p:cNvSpPr/>
          <p:nvPr/>
        </p:nvSpPr>
        <p:spPr>
          <a:xfrm>
            <a:off x="8595360" y="4892040"/>
            <a:ext cx="456120" cy="25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900" b="0" u="none" strike="noStrike">
                <a:solidFill>
                  <a:srgbClr val="aabbdd"/>
                </a:solidFill>
                <a:effectLst/>
                <a:uFillTx/>
                <a:latin typeface="Calibri"/>
                <a:ea typeface="DejaVu Sans"/>
              </a:rPr>
              <a:t>18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Shape 0"/>
          <p:cNvSpPr/>
          <p:nvPr/>
        </p:nvSpPr>
        <p:spPr>
          <a:xfrm>
            <a:off x="365760" y="201240"/>
            <a:ext cx="53640" cy="501840"/>
          </a:xfrm>
          <a:prstGeom prst="rect">
            <a:avLst/>
          </a:prstGeom>
          <a:solidFill>
            <a:srgbClr val="c9973a"/>
          </a:solidFill>
          <a:ln w="12600">
            <a:solidFill>
              <a:srgbClr val="c997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09" name="Text 1"/>
          <p:cNvSpPr/>
          <p:nvPr/>
        </p:nvSpPr>
        <p:spPr>
          <a:xfrm>
            <a:off x="502920" y="164520"/>
            <a:ext cx="831996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Conclusión y Mejoras Futuras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Shape 2"/>
          <p:cNvSpPr/>
          <p:nvPr/>
        </p:nvSpPr>
        <p:spPr>
          <a:xfrm>
            <a:off x="365760" y="777240"/>
            <a:ext cx="8412480" cy="360"/>
          </a:xfrm>
          <a:prstGeom prst="line">
            <a:avLst/>
          </a:prstGeom>
          <a:ln w="15120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11" name="Shape 3"/>
          <p:cNvSpPr/>
          <p:nvPr/>
        </p:nvSpPr>
        <p:spPr>
          <a:xfrm>
            <a:off x="0" y="4892040"/>
            <a:ext cx="9142920" cy="250560"/>
          </a:xfrm>
          <a:prstGeom prst="rect">
            <a:avLst/>
          </a:prstGeom>
          <a:solidFill>
            <a:srgbClr val="1a2744"/>
          </a:solidFill>
          <a:ln w="126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12" name="Text 4"/>
          <p:cNvSpPr/>
          <p:nvPr/>
        </p:nvSpPr>
        <p:spPr>
          <a:xfrm>
            <a:off x="274320" y="4892040"/>
            <a:ext cx="6399720" cy="25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abbdd"/>
                </a:solidFill>
                <a:effectLst/>
                <a:uFillTx/>
                <a:latin typeface="Calibri"/>
                <a:ea typeface="Calibri"/>
              </a:rPr>
              <a:t>Clon de Agapea · Richard &amp; Tomás · 2026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5"/>
          <p:cNvSpPr/>
          <p:nvPr/>
        </p:nvSpPr>
        <p:spPr>
          <a:xfrm>
            <a:off x="8595360" y="4892040"/>
            <a:ext cx="456120" cy="25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abbdd"/>
                </a:solidFill>
                <a:effectLst/>
                <a:uFillTx/>
                <a:latin typeface="Calibri"/>
                <a:ea typeface="Calibri"/>
              </a:rPr>
              <a:t>17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Shape 6"/>
          <p:cNvSpPr/>
          <p:nvPr/>
        </p:nvSpPr>
        <p:spPr>
          <a:xfrm>
            <a:off x="365760" y="914400"/>
            <a:ext cx="53640" cy="318960"/>
          </a:xfrm>
          <a:prstGeom prst="rect">
            <a:avLst/>
          </a:prstGeom>
          <a:solidFill>
            <a:srgbClr val="c9973a"/>
          </a:solidFill>
          <a:ln w="12600">
            <a:solidFill>
              <a:srgbClr val="c997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15" name="Text 7"/>
          <p:cNvSpPr/>
          <p:nvPr/>
        </p:nvSpPr>
        <p:spPr>
          <a:xfrm>
            <a:off x="511920" y="914400"/>
            <a:ext cx="39308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Conclusiones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 8"/>
          <p:cNvSpPr/>
          <p:nvPr/>
        </p:nvSpPr>
        <p:spPr>
          <a:xfrm>
            <a:off x="365760" y="1408680"/>
            <a:ext cx="4113720" cy="20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a2744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Aplicación funcional con arquitectura desacoplada real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a2744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API REST completa: autenticación, CRUD, paginación, filtros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a2744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Dominio práctico de MPA vs SPA sin frameworks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a2744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Uso responsable y supervisado de herramientas de IA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a2744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Base sólida para proyectos profesionales en e-commerce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Shape 9"/>
          <p:cNvSpPr/>
          <p:nvPr/>
        </p:nvSpPr>
        <p:spPr>
          <a:xfrm>
            <a:off x="4709160" y="914400"/>
            <a:ext cx="26280" cy="3016440"/>
          </a:xfrm>
          <a:prstGeom prst="rect">
            <a:avLst/>
          </a:prstGeom>
          <a:solidFill>
            <a:srgbClr val="e8edf7"/>
          </a:solidFill>
          <a:ln w="12600">
            <a:solidFill>
              <a:srgbClr val="e8ed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18" name="Shape 10"/>
          <p:cNvSpPr/>
          <p:nvPr/>
        </p:nvSpPr>
        <p:spPr>
          <a:xfrm>
            <a:off x="4937760" y="914400"/>
            <a:ext cx="53640" cy="318960"/>
          </a:xfrm>
          <a:prstGeom prst="rect">
            <a:avLst/>
          </a:prstGeom>
          <a:solidFill>
            <a:srgbClr val="2857a7"/>
          </a:solidFill>
          <a:ln w="12600">
            <a:solidFill>
              <a:srgbClr val="285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19" name="Text 11"/>
          <p:cNvSpPr/>
          <p:nvPr/>
        </p:nvSpPr>
        <p:spPr>
          <a:xfrm>
            <a:off x="5083920" y="914400"/>
            <a:ext cx="36565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Mejoras Futuras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12"/>
          <p:cNvSpPr/>
          <p:nvPr/>
        </p:nvSpPr>
        <p:spPr>
          <a:xfrm>
            <a:off x="4937760" y="1402920"/>
            <a:ext cx="3839400" cy="23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a2744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Pasarela de pago real: Stripe o Redsys / TPV Virtual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a2744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Mailing transaccional: confirmación de pedido y reset de contraseña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a2744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Inicio de sesión con Google (OAuth 2.0)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a2744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Restricción de CORS en producción + cabeceras de seguridad HTTP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a2744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FormRequest Laravel — eliminar riesgo de mass assignment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a2744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Módulos de facturación y exportación de informes en el panel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Shape 13"/>
          <p:cNvSpPr/>
          <p:nvPr/>
        </p:nvSpPr>
        <p:spPr>
          <a:xfrm>
            <a:off x="365760" y="4069080"/>
            <a:ext cx="8411400" cy="639000"/>
          </a:xfrm>
          <a:prstGeom prst="rect">
            <a:avLst/>
          </a:prstGeom>
          <a:solidFill>
            <a:srgbClr val="1a2744"/>
          </a:solidFill>
          <a:ln w="126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22" name="Text 14"/>
          <p:cNvSpPr/>
          <p:nvPr/>
        </p:nvSpPr>
        <p:spPr>
          <a:xfrm>
            <a:off x="502920" y="4069080"/>
            <a:ext cx="82285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i="1" u="none" strike="noStrike">
                <a:solidFill>
                  <a:srgbClr val="c9973a"/>
                </a:solidFill>
                <a:effectLst/>
                <a:uFillTx/>
                <a:latin typeface="Calibri"/>
                <a:ea typeface="Calibri"/>
              </a:rPr>
              <a:t>"Integración práctica de todos los conocimientos del módulo en un entorno realista de desarrollo web."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Shape 0"/>
          <p:cNvSpPr/>
          <p:nvPr/>
        </p:nvSpPr>
        <p:spPr>
          <a:xfrm>
            <a:off x="0" y="0"/>
            <a:ext cx="9142920" cy="108720"/>
          </a:xfrm>
          <a:prstGeom prst="rect">
            <a:avLst/>
          </a:prstGeom>
          <a:solidFill>
            <a:srgbClr val="c9973a"/>
          </a:solidFill>
          <a:ln w="12600">
            <a:solidFill>
              <a:srgbClr val="c997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24" name="Shape 1"/>
          <p:cNvSpPr/>
          <p:nvPr/>
        </p:nvSpPr>
        <p:spPr>
          <a:xfrm>
            <a:off x="0" y="5029200"/>
            <a:ext cx="9142920" cy="113400"/>
          </a:xfrm>
          <a:prstGeom prst="rect">
            <a:avLst/>
          </a:prstGeom>
          <a:solidFill>
            <a:srgbClr val="c9973a"/>
          </a:solidFill>
          <a:ln w="12600">
            <a:solidFill>
              <a:srgbClr val="c997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25" name="Text 2"/>
          <p:cNvSpPr/>
          <p:nvPr/>
        </p:nvSpPr>
        <p:spPr>
          <a:xfrm>
            <a:off x="457200" y="1280160"/>
            <a:ext cx="8228520" cy="12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5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¡Gracias!</a:t>
            </a:r>
            <a:endParaRPr lang="es-ES" sz="5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 3"/>
          <p:cNvSpPr/>
          <p:nvPr/>
        </p:nvSpPr>
        <p:spPr>
          <a:xfrm>
            <a:off x="457200" y="2743200"/>
            <a:ext cx="82285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0" u="none" strike="noStrike">
                <a:solidFill>
                  <a:srgbClr val="c9973a"/>
                </a:solidFill>
                <a:effectLst/>
                <a:uFillTx/>
                <a:latin typeface="Calibri"/>
                <a:ea typeface="Calibri"/>
              </a:rPr>
              <a:t>Richard Clive Elespuru Rojas · Tomás Pitaluga Díaz</a:t>
            </a:r>
            <a:endParaRPr lang="es-E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 4"/>
          <p:cNvSpPr/>
          <p:nvPr/>
        </p:nvSpPr>
        <p:spPr>
          <a:xfrm>
            <a:off x="457200" y="3383280"/>
            <a:ext cx="82285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7b9bcc"/>
                </a:solidFill>
                <a:effectLst/>
                <a:uFillTx/>
                <a:latin typeface="Calibri"/>
                <a:ea typeface="Calibri"/>
              </a:rPr>
              <a:t>Clon de Agapea — Plataforma de Venta de Libros Online  |  ASIR - 2026</a:t>
            </a:r>
            <a:endParaRPr lang="es-E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Application>LibreOffice/25.8.5.2$Windows_X86_64 LibreOffice_project/9c8b85f387cc00a89945a79c9e6239f32e450ac2</Application>
  <AppVersion>15.0000</AppVersion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2026-05-06T10:15:04Z</dcterms:created>
  <dc:creator>Richard &amp; Tomás</dc:creator>
  <dc:description/>
  <dc:language>en-US</dc:language>
  <cp:lastModifiedBy/>
  <dcterms:modified xsi:type="dcterms:W3CDTF">2026-05-07T11:54:15Z</dcterms:modified>
  <cp:revision>4</cp:revision>
  <dc:subject>PptxGenJS Presentation</dc:subject>
  <dc:title>Clon de Agapea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18</vt:r8>
  </property>
  <property fmtid="{D5CDD505-2E9C-101B-9397-08002B2CF9AE}" pid="3" name="PresentationFormat">
    <vt:lpwstr>On-screen Show (16:9)</vt:lpwstr>
  </property>
  <property fmtid="{D5CDD505-2E9C-101B-9397-08002B2CF9AE}" pid="4" name="Slides">
    <vt:r8>18</vt:r8>
  </property>
</Properties>
</file>